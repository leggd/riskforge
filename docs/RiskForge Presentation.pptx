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256" r:id="rId2"/>
    <p:sldId id="257" r:id="rId3"/>
    <p:sldId id="277" r:id="rId4"/>
    <p:sldId id="276" r:id="rId5"/>
    <p:sldId id="278" r:id="rId6"/>
    <p:sldId id="279" r:id="rId7"/>
    <p:sldId id="280" r:id="rId8"/>
    <p:sldId id="281" r:id="rId9"/>
    <p:sldId id="282" r:id="rId10"/>
    <p:sldId id="258" r:id="rId11"/>
    <p:sldId id="259" r:id="rId12"/>
    <p:sldId id="260" r:id="rId13"/>
    <p:sldId id="283" r:id="rId14"/>
    <p:sldId id="284" r:id="rId15"/>
    <p:sldId id="285" r:id="rId16"/>
    <p:sldId id="286" r:id="rId17"/>
    <p:sldId id="287"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5" d="100"/>
          <a:sy n="55" d="100"/>
        </p:scale>
        <p:origin x="1072"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36D33B-6A60-492C-AE76-C5DAD1366638}" type="datetimeFigureOut">
              <a:rPr lang="en-GB" smtClean="0"/>
              <a:t>10/05/2026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B2A7C1-09A3-4E82-BBC3-90B372C915FB}" type="slidenum">
              <a:rPr lang="en-GB" smtClean="0"/>
              <a:t>‹#›</a:t>
            </a:fld>
            <a:endParaRPr lang="en-GB"/>
          </a:p>
        </p:txBody>
      </p:sp>
    </p:spTree>
    <p:extLst>
      <p:ext uri="{BB962C8B-B14F-4D97-AF65-F5344CB8AC3E}">
        <p14:creationId xmlns:p14="http://schemas.microsoft.com/office/powerpoint/2010/main" val="38729735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91B2A7C1-09A3-4E82-BBC3-90B372C915FB}" type="slidenum">
              <a:rPr lang="en-GB" smtClean="0"/>
              <a:t>11</a:t>
            </a:fld>
            <a:endParaRPr lang="en-GB"/>
          </a:p>
        </p:txBody>
      </p:sp>
    </p:spTree>
    <p:extLst>
      <p:ext uri="{BB962C8B-B14F-4D97-AF65-F5344CB8AC3E}">
        <p14:creationId xmlns:p14="http://schemas.microsoft.com/office/powerpoint/2010/main" val="12510892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5/10/2026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076905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5/10/2026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764319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5/10/2026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830181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5/10/2026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6871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5/10/2026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28679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5/10/2026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94261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5/10/2026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897931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5/10/2026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276363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5/10/2026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082848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5/10/2026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824839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5/10/2026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09155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5/10/2026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2633251616"/>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video" Target="https://www.youtube.com/embed/j2OBDMN9C8M?feature=oembed" TargetMode="Externa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video" Target="https://www.youtube.com/embed/PoDzsIuP4c4?feature=oembed" TargetMode="Externa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video" Target="https://www.youtube.com/embed/He8pirDpnNY?feature=oembed" TargetMode="External"/><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video" Target="https://www.youtube.com/embed/v8bhIYwOegM?feature=oembed" TargetMode="External"/><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video" Target="https://www.youtube.com/embed/9RPTM5JoL04?feature=oembed" TargetMode="External"/><Relationship Id="rId4" Type="http://schemas.openxmlformats.org/officeDocument/2006/relationships/image" Target="../media/image9.jpe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video" Target="https://www.youtube.com/embed/lqW68M0Yxks?feature=oembed" TargetMode="External"/><Relationship Id="rId4" Type="http://schemas.openxmlformats.org/officeDocument/2006/relationships/image" Target="../media/image10.jpeg"/></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8" Type="http://schemas.openxmlformats.org/officeDocument/2006/relationships/hyperlink" Target="https://github.com/leggd/RiskForge" TargetMode="External"/><Relationship Id="rId3" Type="http://schemas.microsoft.com/office/2007/relationships/hdphoto" Target="../media/hdphoto1.wdp"/><Relationship Id="rId7" Type="http://schemas.openxmlformats.org/officeDocument/2006/relationships/hyperlink" Target="https://flask.palletsprojects.com/en/stable/" TargetMode="External"/><Relationship Id="rId2" Type="http://schemas.openxmlformats.org/officeDocument/2006/relationships/image" Target="../media/image12.png"/><Relationship Id="rId1" Type="http://schemas.openxmlformats.org/officeDocument/2006/relationships/slideLayout" Target="../slideLayouts/slideLayout1.xml"/><Relationship Id="rId6" Type="http://schemas.openxmlformats.org/officeDocument/2006/relationships/hyperlink" Target="https://console.groq.com/docs/overview" TargetMode="External"/><Relationship Id="rId11" Type="http://schemas.openxmlformats.org/officeDocument/2006/relationships/hyperlink" Target="https://www.microsoft.com/en-gb/microsoft-365/onedrive/online-cloud-storage" TargetMode="External"/><Relationship Id="rId5" Type="http://schemas.openxmlformats.org/officeDocument/2006/relationships/hyperlink" Target="https://nmap.org/book/man.html" TargetMode="External"/><Relationship Id="rId10" Type="http://schemas.openxmlformats.org/officeDocument/2006/relationships/hyperlink" Target="https://teams.microsoft.com/v2/" TargetMode="External"/><Relationship Id="rId4" Type="http://schemas.openxmlformats.org/officeDocument/2006/relationships/hyperlink" Target="https://greenbone.github.io/docs/latest/" TargetMode="External"/><Relationship Id="rId9" Type="http://schemas.openxmlformats.org/officeDocument/2006/relationships/hyperlink" Target="https://trello.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A875D55-4A80-43E9-38F6-27E366493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3D572980-FB84-8C29-1FAC-FAC5ECE29A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Network Technology Background">
            <a:extLst>
              <a:ext uri="{FF2B5EF4-FFF2-40B4-BE49-F238E27FC236}">
                <a16:creationId xmlns:a16="http://schemas.microsoft.com/office/drawing/2014/main" id="{2A2508E6-7EFD-7658-6467-98AACAD2EE9D}"/>
              </a:ext>
            </a:extLst>
          </p:cNvPr>
          <p:cNvPicPr>
            <a:picLocks noChangeAspect="1"/>
          </p:cNvPicPr>
          <p:nvPr/>
        </p:nvPicPr>
        <p:blipFill>
          <a:blip r:embed="rId2">
            <a:alphaModFix amt="60000"/>
          </a:blip>
          <a:srcRect b="3433"/>
          <a:stretch/>
        </p:blipFill>
        <p:spPr>
          <a:xfrm>
            <a:off x="0" y="0"/>
            <a:ext cx="12192000" cy="6857999"/>
          </a:xfrm>
          <a:prstGeom prst="rect">
            <a:avLst/>
          </a:prstGeom>
        </p:spPr>
      </p:pic>
      <p:sp>
        <p:nvSpPr>
          <p:cNvPr id="2" name="Title 1">
            <a:extLst>
              <a:ext uri="{FF2B5EF4-FFF2-40B4-BE49-F238E27FC236}">
                <a16:creationId xmlns:a16="http://schemas.microsoft.com/office/drawing/2014/main" id="{1F679619-764D-604F-0B07-FF291C26E9E9}"/>
              </a:ext>
            </a:extLst>
          </p:cNvPr>
          <p:cNvSpPr>
            <a:spLocks noGrp="1"/>
          </p:cNvSpPr>
          <p:nvPr>
            <p:ph type="ctrTitle"/>
          </p:nvPr>
        </p:nvSpPr>
        <p:spPr>
          <a:xfrm>
            <a:off x="2301920" y="159124"/>
            <a:ext cx="7588155" cy="2236264"/>
          </a:xfrm>
        </p:spPr>
        <p:txBody>
          <a:bodyPr>
            <a:normAutofit/>
          </a:bodyPr>
          <a:lstStyle/>
          <a:p>
            <a:r>
              <a:rPr lang="en-GB" sz="5400">
                <a:solidFill>
                  <a:srgbClr val="FFFFFF"/>
                </a:solidFill>
              </a:rPr>
              <a:t>RiskForge</a:t>
            </a:r>
          </a:p>
        </p:txBody>
      </p:sp>
      <p:sp>
        <p:nvSpPr>
          <p:cNvPr id="3" name="Subtitle 2">
            <a:extLst>
              <a:ext uri="{FF2B5EF4-FFF2-40B4-BE49-F238E27FC236}">
                <a16:creationId xmlns:a16="http://schemas.microsoft.com/office/drawing/2014/main" id="{3E76473D-8687-7B4E-8438-F94DFDE0FECA}"/>
              </a:ext>
            </a:extLst>
          </p:cNvPr>
          <p:cNvSpPr>
            <a:spLocks noGrp="1"/>
          </p:cNvSpPr>
          <p:nvPr>
            <p:ph type="subTitle" idx="1"/>
          </p:nvPr>
        </p:nvSpPr>
        <p:spPr>
          <a:xfrm>
            <a:off x="2301921" y="2270775"/>
            <a:ext cx="7588155" cy="1414091"/>
          </a:xfrm>
        </p:spPr>
        <p:txBody>
          <a:bodyPr>
            <a:normAutofit/>
          </a:bodyPr>
          <a:lstStyle/>
          <a:p>
            <a:r>
              <a:rPr lang="en-GB" sz="2200" i="1">
                <a:solidFill>
                  <a:srgbClr val="FFFFFF"/>
                </a:solidFill>
              </a:rPr>
              <a:t>A Cybersecurity Vulnerability Management Platform</a:t>
            </a:r>
          </a:p>
        </p:txBody>
      </p:sp>
      <p:sp>
        <p:nvSpPr>
          <p:cNvPr id="8" name="Subtitle 2">
            <a:extLst>
              <a:ext uri="{FF2B5EF4-FFF2-40B4-BE49-F238E27FC236}">
                <a16:creationId xmlns:a16="http://schemas.microsoft.com/office/drawing/2014/main" id="{E9BB8726-636B-D1E8-03B9-E3AF948E4F0C}"/>
              </a:ext>
            </a:extLst>
          </p:cNvPr>
          <p:cNvSpPr txBox="1">
            <a:spLocks/>
          </p:cNvSpPr>
          <p:nvPr/>
        </p:nvSpPr>
        <p:spPr>
          <a:xfrm>
            <a:off x="2632475" y="3166475"/>
            <a:ext cx="6927043" cy="4209915"/>
          </a:xfrm>
          <a:prstGeom prst="rect">
            <a:avLst/>
          </a:prstGeom>
        </p:spPr>
        <p:txBody>
          <a:bodyPr vert="horz" lIns="91440" tIns="45720" rIns="91440" bIns="45720" rtlCol="0">
            <a:normAutofit/>
          </a:bodyPr>
          <a:lstStyle>
            <a:lvl1pPr marL="0" indent="0" algn="ctr" defTabSz="914400" rtl="0" eaLnBrk="1" latinLnBrk="0" hangingPunct="1">
              <a:lnSpc>
                <a:spcPct val="120000"/>
              </a:lnSpc>
              <a:spcBef>
                <a:spcPts val="1000"/>
              </a:spcBef>
              <a:buFont typeface="Arial" panose="020B0604020202020204" pitchFamily="34" charset="0"/>
              <a:buNone/>
              <a:defRPr sz="1800" kern="1200">
                <a:solidFill>
                  <a:schemeClr val="tx1"/>
                </a:solidFill>
                <a:latin typeface="+mn-lt"/>
                <a:ea typeface="+mn-ea"/>
                <a:cs typeface="+mn-cs"/>
              </a:defRPr>
            </a:lvl1pPr>
            <a:lvl2pPr marL="457200" indent="0" algn="ctr" defTabSz="914400" rtl="0" eaLnBrk="1" latinLnBrk="0" hangingPunct="1">
              <a:lnSpc>
                <a:spcPct val="12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2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2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2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GB" b="1" dirty="0">
                <a:solidFill>
                  <a:srgbClr val="FFFFFF"/>
                </a:solidFill>
              </a:rPr>
              <a:t>Team Name: </a:t>
            </a:r>
            <a:r>
              <a:rPr lang="en-GB" dirty="0">
                <a:solidFill>
                  <a:srgbClr val="FFFFFF"/>
                </a:solidFill>
              </a:rPr>
              <a:t>Cyber6 (Team 01)</a:t>
            </a:r>
          </a:p>
          <a:p>
            <a:pPr algn="just"/>
            <a:r>
              <a:rPr lang="en-GB" b="1" dirty="0">
                <a:solidFill>
                  <a:srgbClr val="FFFFFF"/>
                </a:solidFill>
              </a:rPr>
              <a:t>Module: </a:t>
            </a:r>
            <a:r>
              <a:rPr lang="en-GB" dirty="0">
                <a:solidFill>
                  <a:srgbClr val="FFFFFF"/>
                </a:solidFill>
              </a:rPr>
              <a:t>Enterprise Project - CIS2050-N</a:t>
            </a:r>
          </a:p>
          <a:p>
            <a:pPr algn="just"/>
            <a:r>
              <a:rPr lang="en-GB" b="1" dirty="0">
                <a:solidFill>
                  <a:srgbClr val="FFFFFF"/>
                </a:solidFill>
              </a:rPr>
              <a:t>Team Members: </a:t>
            </a:r>
            <a:r>
              <a:rPr lang="en-GB" dirty="0">
                <a:solidFill>
                  <a:srgbClr val="FFFFFF"/>
                </a:solidFill>
              </a:rPr>
              <a:t>Daniel Legg et al.</a:t>
            </a:r>
          </a:p>
          <a:p>
            <a:pPr algn="just"/>
            <a:endParaRPr lang="en-GB" dirty="0">
              <a:solidFill>
                <a:srgbClr val="FFFFFF"/>
              </a:solidFill>
            </a:endParaRPr>
          </a:p>
          <a:p>
            <a:pPr algn="just"/>
            <a:r>
              <a:rPr lang="en-GB" b="1" dirty="0">
                <a:solidFill>
                  <a:srgbClr val="FFFFFF"/>
                </a:solidFill>
              </a:rPr>
              <a:t>Spring 2025</a:t>
            </a:r>
          </a:p>
          <a:p>
            <a:pPr algn="just"/>
            <a:endParaRPr lang="en-GB" b="1" dirty="0">
              <a:solidFill>
                <a:srgbClr val="FFFFFF"/>
              </a:solidFill>
            </a:endParaRPr>
          </a:p>
          <a:p>
            <a:r>
              <a:rPr lang="en-GB" b="1" dirty="0">
                <a:solidFill>
                  <a:srgbClr val="FFFFFF"/>
                </a:solidFill>
              </a:rPr>
              <a:t> </a:t>
            </a:r>
          </a:p>
        </p:txBody>
      </p:sp>
      <p:pic>
        <p:nvPicPr>
          <p:cNvPr id="1026" name="Picture 2">
            <a:extLst>
              <a:ext uri="{FF2B5EF4-FFF2-40B4-BE49-F238E27FC236}">
                <a16:creationId xmlns:a16="http://schemas.microsoft.com/office/drawing/2014/main" id="{EE881512-2386-342E-D1E6-444B0D2CE6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966" y="308289"/>
            <a:ext cx="2604464" cy="1001717"/>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AA8C3BA8-C99A-0881-3D20-EF4B6C0AD82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85105" y="199589"/>
            <a:ext cx="1301924" cy="1219116"/>
          </a:xfrm>
          <a:prstGeom prst="rect">
            <a:avLst/>
          </a:prstGeom>
        </p:spPr>
      </p:pic>
    </p:spTree>
    <p:extLst>
      <p:ext uri="{BB962C8B-B14F-4D97-AF65-F5344CB8AC3E}">
        <p14:creationId xmlns:p14="http://schemas.microsoft.com/office/powerpoint/2010/main" val="932253236"/>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7F8A61A-539C-800E-0326-A8C3635C3930}"/>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A89E8B1-FD5D-F3FC-EBA7-2B1E79934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8A613231-38C4-5DEF-37B6-A771CD39FD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Network Technology Background">
            <a:extLst>
              <a:ext uri="{FF2B5EF4-FFF2-40B4-BE49-F238E27FC236}">
                <a16:creationId xmlns:a16="http://schemas.microsoft.com/office/drawing/2014/main" id="{1F9884B5-D657-9018-982E-FF1412438D2F}"/>
              </a:ext>
            </a:extLst>
          </p:cNvPr>
          <p:cNvPicPr>
            <a:picLocks noChangeAspect="1"/>
          </p:cNvPicPr>
          <p:nvPr/>
        </p:nvPicPr>
        <p:blipFill>
          <a:blip r:embed="rId2">
            <a:alphaModFix amt="60000"/>
            <a:extLst>
              <a:ext uri="{BEBA8EAE-BF5A-486C-A8C5-ECC9F3942E4B}">
                <a14:imgProps xmlns:a14="http://schemas.microsoft.com/office/drawing/2010/main">
                  <a14:imgLayer r:embed="rId3">
                    <a14:imgEffect>
                      <a14:sharpenSoften amount="-50000"/>
                    </a14:imgEffect>
                  </a14:imgLayer>
                </a14:imgProps>
              </a:ext>
            </a:extLst>
          </a:blip>
          <a:srcRect b="3433"/>
          <a:stretch/>
        </p:blipFill>
        <p:spPr>
          <a:xfrm>
            <a:off x="0" y="0"/>
            <a:ext cx="12192000" cy="6857999"/>
          </a:xfrm>
          <a:prstGeom prst="rect">
            <a:avLst/>
          </a:prstGeom>
          <a:solidFill>
            <a:schemeClr val="bg1"/>
          </a:solidFill>
          <a:effectLst>
            <a:innerShdw blurRad="1270000" dist="50800" dir="13500000">
              <a:prstClr val="black">
                <a:alpha val="50000"/>
              </a:prstClr>
            </a:innerShdw>
          </a:effectLst>
        </p:spPr>
      </p:pic>
      <p:sp>
        <p:nvSpPr>
          <p:cNvPr id="14" name="Title 13">
            <a:extLst>
              <a:ext uri="{FF2B5EF4-FFF2-40B4-BE49-F238E27FC236}">
                <a16:creationId xmlns:a16="http://schemas.microsoft.com/office/drawing/2014/main" id="{C085675D-3B7A-3BB0-30B4-C7367F24571E}"/>
              </a:ext>
            </a:extLst>
          </p:cNvPr>
          <p:cNvSpPr>
            <a:spLocks noGrp="1"/>
          </p:cNvSpPr>
          <p:nvPr>
            <p:ph type="ctrTitle"/>
          </p:nvPr>
        </p:nvSpPr>
        <p:spPr>
          <a:xfrm>
            <a:off x="2301922" y="-1"/>
            <a:ext cx="7588155" cy="697010"/>
          </a:xfrm>
        </p:spPr>
        <p:txBody>
          <a:bodyPr>
            <a:normAutofit/>
          </a:bodyPr>
          <a:lstStyle/>
          <a:p>
            <a:r>
              <a:rPr lang="en-GB" sz="3200" b="0"/>
              <a:t>Problem &amp; Purpose</a:t>
            </a:r>
          </a:p>
        </p:txBody>
      </p:sp>
      <p:sp>
        <p:nvSpPr>
          <p:cNvPr id="20" name="TextBox 19">
            <a:extLst>
              <a:ext uri="{FF2B5EF4-FFF2-40B4-BE49-F238E27FC236}">
                <a16:creationId xmlns:a16="http://schemas.microsoft.com/office/drawing/2014/main" id="{BB1DB4FB-1E85-A215-869D-A085A90A8320}"/>
              </a:ext>
            </a:extLst>
          </p:cNvPr>
          <p:cNvSpPr txBox="1"/>
          <p:nvPr/>
        </p:nvSpPr>
        <p:spPr>
          <a:xfrm>
            <a:off x="6571788" y="1225689"/>
            <a:ext cx="5022586" cy="3570208"/>
          </a:xfrm>
          <a:prstGeom prst="rect">
            <a:avLst/>
          </a:prstGeom>
          <a:noFill/>
        </p:spPr>
        <p:txBody>
          <a:bodyPr wrap="square" rtlCol="0">
            <a:spAutoFit/>
          </a:bodyPr>
          <a:lstStyle/>
          <a:p>
            <a:r>
              <a:rPr lang="en-GB" sz="2800" b="1"/>
              <a:t>Purpose of the PoC</a:t>
            </a:r>
          </a:p>
          <a:p>
            <a:endParaRPr lang="en-GB" b="1"/>
          </a:p>
          <a:p>
            <a:r>
              <a:rPr lang="en-GB"/>
              <a:t>Demonstrate a </a:t>
            </a:r>
            <a:r>
              <a:rPr lang="en-GB" b="1"/>
              <a:t>centralised vulnerability management platform </a:t>
            </a:r>
          </a:p>
          <a:p>
            <a:endParaRPr lang="en-GB"/>
          </a:p>
          <a:p>
            <a:r>
              <a:rPr lang="en-GB"/>
              <a:t>That </a:t>
            </a:r>
            <a:r>
              <a:rPr lang="en-GB" b="1"/>
              <a:t>combines</a:t>
            </a:r>
            <a:r>
              <a:rPr lang="en-GB"/>
              <a:t>: </a:t>
            </a:r>
          </a:p>
          <a:p>
            <a:pPr marL="285750" indent="-285750">
              <a:buFont typeface="Arial" panose="020B0604020202020204" pitchFamily="34" charset="0"/>
              <a:buChar char="•"/>
            </a:pPr>
            <a:r>
              <a:rPr lang="en-GB"/>
              <a:t>Asset management </a:t>
            </a:r>
          </a:p>
          <a:p>
            <a:pPr marL="285750" indent="-285750">
              <a:buFont typeface="Arial" panose="020B0604020202020204" pitchFamily="34" charset="0"/>
              <a:buChar char="•"/>
            </a:pPr>
            <a:r>
              <a:rPr lang="en-GB"/>
              <a:t>Vulnerability scanning </a:t>
            </a:r>
          </a:p>
          <a:p>
            <a:pPr marL="285750" indent="-285750">
              <a:buFont typeface="Arial" panose="020B0604020202020204" pitchFamily="34" charset="0"/>
              <a:buChar char="•"/>
            </a:pPr>
            <a:r>
              <a:rPr lang="en-GB"/>
              <a:t>Risk-based prioritisation</a:t>
            </a:r>
          </a:p>
          <a:p>
            <a:pPr lvl="1"/>
            <a:endParaRPr lang="en-GB"/>
          </a:p>
          <a:p>
            <a:r>
              <a:rPr lang="en-GB"/>
              <a:t>To transform raw scan data into actionable remediation workflows</a:t>
            </a:r>
          </a:p>
        </p:txBody>
      </p:sp>
      <p:sp>
        <p:nvSpPr>
          <p:cNvPr id="2" name="TextBox 1">
            <a:extLst>
              <a:ext uri="{FF2B5EF4-FFF2-40B4-BE49-F238E27FC236}">
                <a16:creationId xmlns:a16="http://schemas.microsoft.com/office/drawing/2014/main" id="{941B6F0B-2453-85BC-9628-94723942C690}"/>
              </a:ext>
            </a:extLst>
          </p:cNvPr>
          <p:cNvSpPr txBox="1"/>
          <p:nvPr/>
        </p:nvSpPr>
        <p:spPr>
          <a:xfrm>
            <a:off x="794632" y="1225689"/>
            <a:ext cx="4825582" cy="4124206"/>
          </a:xfrm>
          <a:prstGeom prst="rect">
            <a:avLst/>
          </a:prstGeom>
          <a:noFill/>
        </p:spPr>
        <p:txBody>
          <a:bodyPr wrap="square" rtlCol="0">
            <a:spAutoFit/>
          </a:bodyPr>
          <a:lstStyle/>
          <a:p>
            <a:r>
              <a:rPr lang="en-GB" sz="2800" b="1"/>
              <a:t>Problem</a:t>
            </a:r>
          </a:p>
          <a:p>
            <a:endParaRPr lang="en-GB" b="1"/>
          </a:p>
          <a:p>
            <a:pPr marL="285750" indent="-285750">
              <a:buFont typeface="Arial" panose="020B0604020202020204" pitchFamily="34" charset="0"/>
              <a:buChar char="•"/>
            </a:pPr>
            <a:r>
              <a:rPr lang="en-GB"/>
              <a:t>Modern IT environments generate large volumes of vulnerability data </a:t>
            </a:r>
          </a:p>
          <a:p>
            <a:pPr marL="285750" indent="-285750">
              <a:buFont typeface="Arial" panose="020B0604020202020204" pitchFamily="34" charset="0"/>
              <a:buChar char="•"/>
            </a:pPr>
            <a:endParaRPr lang="en-GB"/>
          </a:p>
          <a:p>
            <a:pPr marL="285750" indent="-285750">
              <a:buFont typeface="Arial" panose="020B0604020202020204" pitchFamily="34" charset="0"/>
              <a:buChar char="•"/>
            </a:pPr>
            <a:r>
              <a:rPr lang="en-GB"/>
              <a:t>Existing tools provide limited context for prioritisation </a:t>
            </a:r>
          </a:p>
          <a:p>
            <a:pPr marL="285750" indent="-285750">
              <a:buFont typeface="Arial" panose="020B0604020202020204" pitchFamily="34" charset="0"/>
              <a:buChar char="•"/>
            </a:pPr>
            <a:endParaRPr lang="en-GB"/>
          </a:p>
          <a:p>
            <a:pPr marL="285750" indent="-285750">
              <a:buFont typeface="Arial" panose="020B0604020202020204" pitchFamily="34" charset="0"/>
              <a:buChar char="•"/>
            </a:pPr>
            <a:r>
              <a:rPr lang="en-GB"/>
              <a:t>Enterprise solutions are often complex, costly and difficult to use </a:t>
            </a:r>
          </a:p>
          <a:p>
            <a:pPr marL="285750" indent="-285750">
              <a:buFont typeface="Arial" panose="020B0604020202020204" pitchFamily="34" charset="0"/>
              <a:buChar char="•"/>
            </a:pPr>
            <a:endParaRPr lang="en-GB"/>
          </a:p>
          <a:p>
            <a:pPr marL="285750" indent="-285750">
              <a:buFont typeface="Arial" panose="020B0604020202020204" pitchFamily="34" charset="0"/>
              <a:buChar char="•"/>
            </a:pPr>
            <a:r>
              <a:rPr lang="en-GB"/>
              <a:t>Result: vulnerabilities remain unresolved and exploitable</a:t>
            </a:r>
          </a:p>
          <a:p>
            <a:pPr algn="just"/>
            <a:endParaRPr lang="en-GB"/>
          </a:p>
        </p:txBody>
      </p:sp>
    </p:spTree>
    <p:extLst>
      <p:ext uri="{BB962C8B-B14F-4D97-AF65-F5344CB8AC3E}">
        <p14:creationId xmlns:p14="http://schemas.microsoft.com/office/powerpoint/2010/main" val="3241393571"/>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4126DF4-6662-655F-111E-C529A89550DE}"/>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7530A17-03BE-5833-11D9-71D8A4167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834D2FE3-F0C1-6B56-0B47-07518A2C96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Network Technology Background">
            <a:extLst>
              <a:ext uri="{FF2B5EF4-FFF2-40B4-BE49-F238E27FC236}">
                <a16:creationId xmlns:a16="http://schemas.microsoft.com/office/drawing/2014/main" id="{42484C39-F892-E191-4713-D53861FC46C2}"/>
              </a:ext>
            </a:extLst>
          </p:cNvPr>
          <p:cNvPicPr>
            <a:picLocks noChangeAspect="1"/>
          </p:cNvPicPr>
          <p:nvPr/>
        </p:nvPicPr>
        <p:blipFill>
          <a:blip r:embed="rId2">
            <a:alphaModFix amt="60000"/>
            <a:extLst>
              <a:ext uri="{BEBA8EAE-BF5A-486C-A8C5-ECC9F3942E4B}">
                <a14:imgProps xmlns:a14="http://schemas.microsoft.com/office/drawing/2010/main">
                  <a14:imgLayer r:embed="rId3">
                    <a14:imgEffect>
                      <a14:sharpenSoften amount="-50000"/>
                    </a14:imgEffect>
                  </a14:imgLayer>
                </a14:imgProps>
              </a:ext>
            </a:extLst>
          </a:blip>
          <a:srcRect b="3433"/>
          <a:stretch/>
        </p:blipFill>
        <p:spPr>
          <a:xfrm>
            <a:off x="0" y="16042"/>
            <a:ext cx="12192000" cy="6857999"/>
          </a:xfrm>
          <a:prstGeom prst="rect">
            <a:avLst/>
          </a:prstGeom>
          <a:solidFill>
            <a:schemeClr val="bg1"/>
          </a:solidFill>
          <a:effectLst>
            <a:innerShdw blurRad="1270000" dist="50800" dir="13500000">
              <a:prstClr val="black">
                <a:alpha val="50000"/>
              </a:prstClr>
            </a:innerShdw>
          </a:effectLst>
        </p:spPr>
      </p:pic>
      <p:sp>
        <p:nvSpPr>
          <p:cNvPr id="14" name="Title 13">
            <a:extLst>
              <a:ext uri="{FF2B5EF4-FFF2-40B4-BE49-F238E27FC236}">
                <a16:creationId xmlns:a16="http://schemas.microsoft.com/office/drawing/2014/main" id="{6F1C4392-04C0-06B6-E197-5F6C83D0CAE3}"/>
              </a:ext>
            </a:extLst>
          </p:cNvPr>
          <p:cNvSpPr>
            <a:spLocks noGrp="1"/>
          </p:cNvSpPr>
          <p:nvPr>
            <p:ph type="ctrTitle"/>
          </p:nvPr>
        </p:nvSpPr>
        <p:spPr>
          <a:xfrm>
            <a:off x="2497065" y="0"/>
            <a:ext cx="7588155" cy="697010"/>
          </a:xfrm>
        </p:spPr>
        <p:txBody>
          <a:bodyPr>
            <a:normAutofit/>
          </a:bodyPr>
          <a:lstStyle/>
          <a:p>
            <a:r>
              <a:rPr lang="en-GB" sz="3200" b="0"/>
              <a:t>Research Question &amp; Goal</a:t>
            </a:r>
          </a:p>
        </p:txBody>
      </p:sp>
      <p:sp>
        <p:nvSpPr>
          <p:cNvPr id="20" name="TextBox 19">
            <a:extLst>
              <a:ext uri="{FF2B5EF4-FFF2-40B4-BE49-F238E27FC236}">
                <a16:creationId xmlns:a16="http://schemas.microsoft.com/office/drawing/2014/main" id="{24B04C53-32B8-6299-09CE-711B84F1F569}"/>
              </a:ext>
            </a:extLst>
          </p:cNvPr>
          <p:cNvSpPr txBox="1"/>
          <p:nvPr/>
        </p:nvSpPr>
        <p:spPr>
          <a:xfrm>
            <a:off x="2469459" y="2954819"/>
            <a:ext cx="7643366" cy="2739211"/>
          </a:xfrm>
          <a:prstGeom prst="rect">
            <a:avLst/>
          </a:prstGeom>
          <a:noFill/>
        </p:spPr>
        <p:txBody>
          <a:bodyPr wrap="square" rtlCol="0">
            <a:spAutoFit/>
          </a:bodyPr>
          <a:lstStyle/>
          <a:p>
            <a:pPr algn="ctr"/>
            <a:r>
              <a:rPr lang="en-GB" sz="2800" b="1"/>
              <a:t>Goal</a:t>
            </a:r>
          </a:p>
          <a:p>
            <a:endParaRPr lang="en-GB" b="1"/>
          </a:p>
          <a:p>
            <a:pPr marL="285750" indent="-285750">
              <a:buFont typeface="Arial" panose="020B0604020202020204" pitchFamily="34" charset="0"/>
              <a:buChar char="•"/>
            </a:pPr>
            <a:r>
              <a:rPr lang="en-GB"/>
              <a:t>Provide clear visibility of cyber risk</a:t>
            </a:r>
          </a:p>
          <a:p>
            <a:pPr marL="285750" indent="-285750">
              <a:buFont typeface="Arial" panose="020B0604020202020204" pitchFamily="34" charset="0"/>
              <a:buChar char="•"/>
            </a:pPr>
            <a:endParaRPr lang="en-GB"/>
          </a:p>
          <a:p>
            <a:pPr marL="285750" indent="-285750">
              <a:buFont typeface="Arial" panose="020B0604020202020204" pitchFamily="34" charset="0"/>
              <a:buChar char="•"/>
            </a:pPr>
            <a:r>
              <a:rPr lang="en-GB"/>
              <a:t>Improve prioritisation using contextual scoring</a:t>
            </a:r>
          </a:p>
          <a:p>
            <a:pPr marL="285750" indent="-285750">
              <a:buFont typeface="Arial" panose="020B0604020202020204" pitchFamily="34" charset="0"/>
              <a:buChar char="•"/>
            </a:pPr>
            <a:endParaRPr lang="en-GB"/>
          </a:p>
          <a:p>
            <a:pPr marL="285750" indent="-285750">
              <a:buFont typeface="Arial" panose="020B0604020202020204" pitchFamily="34" charset="0"/>
              <a:buChar char="•"/>
            </a:pPr>
            <a:r>
              <a:rPr lang="en-GB"/>
              <a:t>Automate scan &gt; analyse &gt; ticket &gt; remediate workflow</a:t>
            </a:r>
          </a:p>
          <a:p>
            <a:pPr marL="285750" indent="-285750">
              <a:buFont typeface="Arial" panose="020B0604020202020204" pitchFamily="34" charset="0"/>
              <a:buChar char="•"/>
            </a:pPr>
            <a:endParaRPr lang="en-GB"/>
          </a:p>
          <a:p>
            <a:pPr marL="285750" indent="-285750">
              <a:buFont typeface="Arial" panose="020B0604020202020204" pitchFamily="34" charset="0"/>
              <a:buChar char="•"/>
            </a:pPr>
            <a:r>
              <a:rPr lang="en-GB"/>
              <a:t>Enhance decision making using AI-assisted analysis</a:t>
            </a:r>
          </a:p>
        </p:txBody>
      </p:sp>
      <p:sp>
        <p:nvSpPr>
          <p:cNvPr id="2" name="TextBox 1">
            <a:extLst>
              <a:ext uri="{FF2B5EF4-FFF2-40B4-BE49-F238E27FC236}">
                <a16:creationId xmlns:a16="http://schemas.microsoft.com/office/drawing/2014/main" id="{E3592B99-7394-9488-F00A-401945F47E1F}"/>
              </a:ext>
            </a:extLst>
          </p:cNvPr>
          <p:cNvSpPr txBox="1"/>
          <p:nvPr/>
        </p:nvSpPr>
        <p:spPr>
          <a:xfrm>
            <a:off x="634953" y="979529"/>
            <a:ext cx="11312381" cy="1692771"/>
          </a:xfrm>
          <a:prstGeom prst="rect">
            <a:avLst/>
          </a:prstGeom>
          <a:noFill/>
        </p:spPr>
        <p:txBody>
          <a:bodyPr wrap="square" lIns="91440" tIns="45720" rIns="91440" bIns="45720" rtlCol="0" anchor="t">
            <a:spAutoFit/>
          </a:bodyPr>
          <a:lstStyle/>
          <a:p>
            <a:pPr algn="ctr"/>
            <a:r>
              <a:rPr lang="en-GB" sz="2800" b="1"/>
              <a:t>Research Question</a:t>
            </a:r>
          </a:p>
          <a:p>
            <a:pPr algn="ctr"/>
            <a:endParaRPr lang="en-GB" sz="2800" b="1"/>
          </a:p>
          <a:p>
            <a:r>
              <a:rPr lang="en-GB" sz="2400" i="1"/>
              <a:t>How can we improve vulnerability visibility, prioritisation, and remediation in enterprise networks?</a:t>
            </a:r>
            <a:endParaRPr lang="en-GB" sz="1600" i="1"/>
          </a:p>
        </p:txBody>
      </p:sp>
    </p:spTree>
    <p:extLst>
      <p:ext uri="{BB962C8B-B14F-4D97-AF65-F5344CB8AC3E}">
        <p14:creationId xmlns:p14="http://schemas.microsoft.com/office/powerpoint/2010/main" val="3110380440"/>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F54CA12-D8DA-710A-34F0-307D289F68E8}"/>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DDA94B8-70FC-CEB1-3212-B08E977D0D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75FD48FF-E1EB-2085-9436-9614BF4EB4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Network Technology Background">
            <a:extLst>
              <a:ext uri="{FF2B5EF4-FFF2-40B4-BE49-F238E27FC236}">
                <a16:creationId xmlns:a16="http://schemas.microsoft.com/office/drawing/2014/main" id="{3DD211D0-CC3A-5A5A-CE1D-E275B70DEC7E}"/>
              </a:ext>
            </a:extLst>
          </p:cNvPr>
          <p:cNvPicPr>
            <a:picLocks noChangeAspect="1"/>
          </p:cNvPicPr>
          <p:nvPr/>
        </p:nvPicPr>
        <p:blipFill>
          <a:blip r:embed="rId3">
            <a:alphaModFix amt="60000"/>
          </a:blip>
          <a:srcRect b="3433"/>
          <a:stretch/>
        </p:blipFill>
        <p:spPr>
          <a:xfrm>
            <a:off x="0" y="1"/>
            <a:ext cx="12192000" cy="6857999"/>
          </a:xfrm>
          <a:prstGeom prst="rect">
            <a:avLst/>
          </a:prstGeom>
        </p:spPr>
      </p:pic>
      <p:sp>
        <p:nvSpPr>
          <p:cNvPr id="14" name="Title 13">
            <a:extLst>
              <a:ext uri="{FF2B5EF4-FFF2-40B4-BE49-F238E27FC236}">
                <a16:creationId xmlns:a16="http://schemas.microsoft.com/office/drawing/2014/main" id="{0D577F40-5AAD-7739-C648-81AA69B69E3C}"/>
              </a:ext>
            </a:extLst>
          </p:cNvPr>
          <p:cNvSpPr>
            <a:spLocks noGrp="1"/>
          </p:cNvSpPr>
          <p:nvPr>
            <p:ph type="ctrTitle"/>
          </p:nvPr>
        </p:nvSpPr>
        <p:spPr>
          <a:xfrm>
            <a:off x="2301922" y="-1"/>
            <a:ext cx="7588155" cy="697010"/>
          </a:xfrm>
        </p:spPr>
        <p:txBody>
          <a:bodyPr>
            <a:normAutofit/>
          </a:bodyPr>
          <a:lstStyle/>
          <a:p>
            <a:r>
              <a:rPr lang="en-GB" sz="3200" b="0"/>
              <a:t>Authentication Demo</a:t>
            </a:r>
          </a:p>
        </p:txBody>
      </p:sp>
      <p:pic>
        <p:nvPicPr>
          <p:cNvPr id="3" name="Online Media 2" title="RiskForge Authentication Demo (Subtitles)">
            <a:hlinkClick r:id="" action="ppaction://media"/>
            <a:extLst>
              <a:ext uri="{FF2B5EF4-FFF2-40B4-BE49-F238E27FC236}">
                <a16:creationId xmlns:a16="http://schemas.microsoft.com/office/drawing/2014/main" id="{DE0DC2A5-0F8F-DC14-4226-F29F79DB4165}"/>
              </a:ext>
            </a:extLst>
          </p:cNvPr>
          <p:cNvPicPr>
            <a:picLocks noRot="1" noChangeAspect="1"/>
          </p:cNvPicPr>
          <p:nvPr>
            <a:videoFile r:link="rId1"/>
          </p:nvPr>
        </p:nvPicPr>
        <p:blipFill>
          <a:blip r:embed="rId4"/>
          <a:stretch>
            <a:fillRect/>
          </a:stretch>
        </p:blipFill>
        <p:spPr>
          <a:xfrm>
            <a:off x="1024164" y="697009"/>
            <a:ext cx="10143671" cy="5731174"/>
          </a:xfrm>
          <a:prstGeom prst="rect">
            <a:avLst/>
          </a:prstGeom>
        </p:spPr>
      </p:pic>
      <p:sp>
        <p:nvSpPr>
          <p:cNvPr id="5" name="TextBox 4">
            <a:extLst>
              <a:ext uri="{FF2B5EF4-FFF2-40B4-BE49-F238E27FC236}">
                <a16:creationId xmlns:a16="http://schemas.microsoft.com/office/drawing/2014/main" id="{EA8D8445-0C1A-728A-1E51-EA86CE2568A7}"/>
              </a:ext>
            </a:extLst>
          </p:cNvPr>
          <p:cNvSpPr txBox="1"/>
          <p:nvPr/>
        </p:nvSpPr>
        <p:spPr>
          <a:xfrm>
            <a:off x="3648854" y="6426577"/>
            <a:ext cx="4894289" cy="646331"/>
          </a:xfrm>
          <a:prstGeom prst="rect">
            <a:avLst/>
          </a:prstGeom>
          <a:noFill/>
        </p:spPr>
        <p:txBody>
          <a:bodyPr wrap="none" rtlCol="0">
            <a:spAutoFit/>
          </a:bodyPr>
          <a:lstStyle/>
          <a:p>
            <a:r>
              <a:rPr lang="en-GB" i="1"/>
              <a:t>Secure login with role-based access control</a:t>
            </a:r>
          </a:p>
          <a:p>
            <a:endParaRPr lang="en-GB" i="1"/>
          </a:p>
        </p:txBody>
      </p:sp>
    </p:spTree>
    <p:extLst>
      <p:ext uri="{BB962C8B-B14F-4D97-AF65-F5344CB8AC3E}">
        <p14:creationId xmlns:p14="http://schemas.microsoft.com/office/powerpoint/2010/main" val="184705556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F54CA12-D8DA-710A-34F0-307D289F68E8}"/>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DDA94B8-70FC-CEB1-3212-B08E977D0D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75FD48FF-E1EB-2085-9436-9614BF4EB4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Network Technology Background">
            <a:extLst>
              <a:ext uri="{FF2B5EF4-FFF2-40B4-BE49-F238E27FC236}">
                <a16:creationId xmlns:a16="http://schemas.microsoft.com/office/drawing/2014/main" id="{3DD211D0-CC3A-5A5A-CE1D-E275B70DEC7E}"/>
              </a:ext>
            </a:extLst>
          </p:cNvPr>
          <p:cNvPicPr>
            <a:picLocks noChangeAspect="1"/>
          </p:cNvPicPr>
          <p:nvPr/>
        </p:nvPicPr>
        <p:blipFill>
          <a:blip r:embed="rId3">
            <a:alphaModFix amt="60000"/>
          </a:blip>
          <a:srcRect b="3433"/>
          <a:stretch/>
        </p:blipFill>
        <p:spPr>
          <a:xfrm>
            <a:off x="-2" y="1"/>
            <a:ext cx="12192000" cy="6857999"/>
          </a:xfrm>
          <a:prstGeom prst="rect">
            <a:avLst/>
          </a:prstGeom>
        </p:spPr>
      </p:pic>
      <p:sp>
        <p:nvSpPr>
          <p:cNvPr id="14" name="Title 13">
            <a:extLst>
              <a:ext uri="{FF2B5EF4-FFF2-40B4-BE49-F238E27FC236}">
                <a16:creationId xmlns:a16="http://schemas.microsoft.com/office/drawing/2014/main" id="{0D577F40-5AAD-7739-C648-81AA69B69E3C}"/>
              </a:ext>
            </a:extLst>
          </p:cNvPr>
          <p:cNvSpPr>
            <a:spLocks noGrp="1"/>
          </p:cNvSpPr>
          <p:nvPr>
            <p:ph type="ctrTitle"/>
          </p:nvPr>
        </p:nvSpPr>
        <p:spPr>
          <a:xfrm>
            <a:off x="2301922" y="-1"/>
            <a:ext cx="7588155" cy="697010"/>
          </a:xfrm>
        </p:spPr>
        <p:txBody>
          <a:bodyPr>
            <a:normAutofit/>
          </a:bodyPr>
          <a:lstStyle/>
          <a:p>
            <a:r>
              <a:rPr lang="en-GB" sz="3200" b="0"/>
              <a:t>Asset Management Demo</a:t>
            </a:r>
          </a:p>
        </p:txBody>
      </p:sp>
      <p:sp>
        <p:nvSpPr>
          <p:cNvPr id="5" name="TextBox 4">
            <a:extLst>
              <a:ext uri="{FF2B5EF4-FFF2-40B4-BE49-F238E27FC236}">
                <a16:creationId xmlns:a16="http://schemas.microsoft.com/office/drawing/2014/main" id="{EA8D8445-0C1A-728A-1E51-EA86CE2568A7}"/>
              </a:ext>
            </a:extLst>
          </p:cNvPr>
          <p:cNvSpPr txBox="1"/>
          <p:nvPr/>
        </p:nvSpPr>
        <p:spPr>
          <a:xfrm>
            <a:off x="2621329" y="6431993"/>
            <a:ext cx="6949338" cy="369332"/>
          </a:xfrm>
          <a:prstGeom prst="rect">
            <a:avLst/>
          </a:prstGeom>
          <a:noFill/>
        </p:spPr>
        <p:txBody>
          <a:bodyPr wrap="none" rtlCol="0">
            <a:spAutoFit/>
          </a:bodyPr>
          <a:lstStyle/>
          <a:p>
            <a:r>
              <a:rPr lang="en-GB" i="1"/>
              <a:t>Centralised asset tracking with criticality and exposure context</a:t>
            </a:r>
          </a:p>
        </p:txBody>
      </p:sp>
      <p:pic>
        <p:nvPicPr>
          <p:cNvPr id="2" name="Online Media 1" title="RiskForge Asset Management Demo (Subtitles)">
            <a:hlinkClick r:id="" action="ppaction://media"/>
            <a:extLst>
              <a:ext uri="{FF2B5EF4-FFF2-40B4-BE49-F238E27FC236}">
                <a16:creationId xmlns:a16="http://schemas.microsoft.com/office/drawing/2014/main" id="{A96C0D70-A93F-7AB7-2DF5-451E70355F1C}"/>
              </a:ext>
            </a:extLst>
          </p:cNvPr>
          <p:cNvPicPr>
            <a:picLocks noRot="1" noChangeAspect="1"/>
          </p:cNvPicPr>
          <p:nvPr>
            <a:videoFile r:link="rId1"/>
          </p:nvPr>
        </p:nvPicPr>
        <p:blipFill>
          <a:blip r:embed="rId4"/>
          <a:stretch>
            <a:fillRect/>
          </a:stretch>
        </p:blipFill>
        <p:spPr>
          <a:xfrm>
            <a:off x="1015998" y="691593"/>
            <a:ext cx="10160000" cy="5740400"/>
          </a:xfrm>
          <a:prstGeom prst="rect">
            <a:avLst/>
          </a:prstGeom>
        </p:spPr>
      </p:pic>
    </p:spTree>
    <p:extLst>
      <p:ext uri="{BB962C8B-B14F-4D97-AF65-F5344CB8AC3E}">
        <p14:creationId xmlns:p14="http://schemas.microsoft.com/office/powerpoint/2010/main" val="236795115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F54CA12-D8DA-710A-34F0-307D289F68E8}"/>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DDA94B8-70FC-CEB1-3212-B08E977D0D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75FD48FF-E1EB-2085-9436-9614BF4EB4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Network Technology Background">
            <a:extLst>
              <a:ext uri="{FF2B5EF4-FFF2-40B4-BE49-F238E27FC236}">
                <a16:creationId xmlns:a16="http://schemas.microsoft.com/office/drawing/2014/main" id="{3DD211D0-CC3A-5A5A-CE1D-E275B70DEC7E}"/>
              </a:ext>
            </a:extLst>
          </p:cNvPr>
          <p:cNvPicPr>
            <a:picLocks noChangeAspect="1"/>
          </p:cNvPicPr>
          <p:nvPr/>
        </p:nvPicPr>
        <p:blipFill>
          <a:blip r:embed="rId3">
            <a:alphaModFix amt="60000"/>
          </a:blip>
          <a:srcRect b="3433"/>
          <a:stretch/>
        </p:blipFill>
        <p:spPr>
          <a:xfrm>
            <a:off x="-2" y="1"/>
            <a:ext cx="12192000" cy="6857999"/>
          </a:xfrm>
          <a:prstGeom prst="rect">
            <a:avLst/>
          </a:prstGeom>
        </p:spPr>
      </p:pic>
      <p:sp>
        <p:nvSpPr>
          <p:cNvPr id="14" name="Title 13">
            <a:extLst>
              <a:ext uri="{FF2B5EF4-FFF2-40B4-BE49-F238E27FC236}">
                <a16:creationId xmlns:a16="http://schemas.microsoft.com/office/drawing/2014/main" id="{0D577F40-5AAD-7739-C648-81AA69B69E3C}"/>
              </a:ext>
            </a:extLst>
          </p:cNvPr>
          <p:cNvSpPr>
            <a:spLocks noGrp="1"/>
          </p:cNvSpPr>
          <p:nvPr>
            <p:ph type="ctrTitle"/>
          </p:nvPr>
        </p:nvSpPr>
        <p:spPr>
          <a:xfrm>
            <a:off x="2301922" y="-1"/>
            <a:ext cx="7588155" cy="697010"/>
          </a:xfrm>
        </p:spPr>
        <p:txBody>
          <a:bodyPr>
            <a:normAutofit/>
          </a:bodyPr>
          <a:lstStyle/>
          <a:p>
            <a:r>
              <a:rPr lang="en-GB" sz="3200" b="0"/>
              <a:t>Scanning Demo</a:t>
            </a:r>
          </a:p>
        </p:txBody>
      </p:sp>
      <p:sp>
        <p:nvSpPr>
          <p:cNvPr id="5" name="TextBox 4">
            <a:extLst>
              <a:ext uri="{FF2B5EF4-FFF2-40B4-BE49-F238E27FC236}">
                <a16:creationId xmlns:a16="http://schemas.microsoft.com/office/drawing/2014/main" id="{EA8D8445-0C1A-728A-1E51-EA86CE2568A7}"/>
              </a:ext>
            </a:extLst>
          </p:cNvPr>
          <p:cNvSpPr txBox="1"/>
          <p:nvPr/>
        </p:nvSpPr>
        <p:spPr>
          <a:xfrm>
            <a:off x="3243294" y="6434701"/>
            <a:ext cx="5705408" cy="369332"/>
          </a:xfrm>
          <a:prstGeom prst="rect">
            <a:avLst/>
          </a:prstGeom>
          <a:noFill/>
        </p:spPr>
        <p:txBody>
          <a:bodyPr wrap="none" rtlCol="0">
            <a:spAutoFit/>
          </a:bodyPr>
          <a:lstStyle/>
          <a:p>
            <a:r>
              <a:rPr lang="en-GB" i="1"/>
              <a:t>Automated scanning using integrated security tools</a:t>
            </a:r>
          </a:p>
        </p:txBody>
      </p:sp>
      <p:pic>
        <p:nvPicPr>
          <p:cNvPr id="3" name="Online Media 2" title="RiskForge Scan Demo (Subtitles)">
            <a:hlinkClick r:id="" action="ppaction://media"/>
            <a:extLst>
              <a:ext uri="{FF2B5EF4-FFF2-40B4-BE49-F238E27FC236}">
                <a16:creationId xmlns:a16="http://schemas.microsoft.com/office/drawing/2014/main" id="{D047C601-C45F-272B-68CA-83B41D28AA3B}"/>
              </a:ext>
            </a:extLst>
          </p:cNvPr>
          <p:cNvPicPr>
            <a:picLocks noRot="1" noChangeAspect="1"/>
          </p:cNvPicPr>
          <p:nvPr>
            <a:videoFile r:link="rId1"/>
          </p:nvPr>
        </p:nvPicPr>
        <p:blipFill>
          <a:blip r:embed="rId4"/>
          <a:stretch>
            <a:fillRect/>
          </a:stretch>
        </p:blipFill>
        <p:spPr>
          <a:xfrm>
            <a:off x="1015998" y="694301"/>
            <a:ext cx="10160000" cy="5740400"/>
          </a:xfrm>
          <a:prstGeom prst="rect">
            <a:avLst/>
          </a:prstGeom>
        </p:spPr>
      </p:pic>
    </p:spTree>
    <p:extLst>
      <p:ext uri="{BB962C8B-B14F-4D97-AF65-F5344CB8AC3E}">
        <p14:creationId xmlns:p14="http://schemas.microsoft.com/office/powerpoint/2010/main" val="287178252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F54CA12-D8DA-710A-34F0-307D289F68E8}"/>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DDA94B8-70FC-CEB1-3212-B08E977D0D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75FD48FF-E1EB-2085-9436-9614BF4EB4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Network Technology Background">
            <a:extLst>
              <a:ext uri="{FF2B5EF4-FFF2-40B4-BE49-F238E27FC236}">
                <a16:creationId xmlns:a16="http://schemas.microsoft.com/office/drawing/2014/main" id="{3DD211D0-CC3A-5A5A-CE1D-E275B70DEC7E}"/>
              </a:ext>
            </a:extLst>
          </p:cNvPr>
          <p:cNvPicPr>
            <a:picLocks noChangeAspect="1"/>
          </p:cNvPicPr>
          <p:nvPr/>
        </p:nvPicPr>
        <p:blipFill>
          <a:blip r:embed="rId3">
            <a:alphaModFix amt="60000"/>
          </a:blip>
          <a:srcRect b="3433"/>
          <a:stretch/>
        </p:blipFill>
        <p:spPr>
          <a:xfrm>
            <a:off x="-2" y="1"/>
            <a:ext cx="12192000" cy="6857999"/>
          </a:xfrm>
          <a:prstGeom prst="rect">
            <a:avLst/>
          </a:prstGeom>
        </p:spPr>
      </p:pic>
      <p:sp>
        <p:nvSpPr>
          <p:cNvPr id="14" name="Title 13">
            <a:extLst>
              <a:ext uri="{FF2B5EF4-FFF2-40B4-BE49-F238E27FC236}">
                <a16:creationId xmlns:a16="http://schemas.microsoft.com/office/drawing/2014/main" id="{0D577F40-5AAD-7739-C648-81AA69B69E3C}"/>
              </a:ext>
            </a:extLst>
          </p:cNvPr>
          <p:cNvSpPr>
            <a:spLocks noGrp="1"/>
          </p:cNvSpPr>
          <p:nvPr>
            <p:ph type="ctrTitle"/>
          </p:nvPr>
        </p:nvSpPr>
        <p:spPr>
          <a:xfrm>
            <a:off x="2301922" y="-1"/>
            <a:ext cx="7588155" cy="697010"/>
          </a:xfrm>
        </p:spPr>
        <p:txBody>
          <a:bodyPr>
            <a:normAutofit/>
          </a:bodyPr>
          <a:lstStyle/>
          <a:p>
            <a:r>
              <a:rPr lang="en-GB" sz="3200" b="0"/>
              <a:t>Ticketing &amp; Remediation Demo</a:t>
            </a:r>
          </a:p>
        </p:txBody>
      </p:sp>
      <p:sp>
        <p:nvSpPr>
          <p:cNvPr id="5" name="TextBox 4">
            <a:extLst>
              <a:ext uri="{FF2B5EF4-FFF2-40B4-BE49-F238E27FC236}">
                <a16:creationId xmlns:a16="http://schemas.microsoft.com/office/drawing/2014/main" id="{EA8D8445-0C1A-728A-1E51-EA86CE2568A7}"/>
              </a:ext>
            </a:extLst>
          </p:cNvPr>
          <p:cNvSpPr txBox="1"/>
          <p:nvPr/>
        </p:nvSpPr>
        <p:spPr>
          <a:xfrm>
            <a:off x="2090735" y="6477781"/>
            <a:ext cx="8010526" cy="369332"/>
          </a:xfrm>
          <a:prstGeom prst="rect">
            <a:avLst/>
          </a:prstGeom>
          <a:noFill/>
        </p:spPr>
        <p:txBody>
          <a:bodyPr wrap="none" rtlCol="0">
            <a:spAutoFit/>
          </a:bodyPr>
          <a:lstStyle/>
          <a:p>
            <a:r>
              <a:rPr lang="en-GB" i="1"/>
              <a:t>Automated ticket generation and lifecycle management for vulnerabilities</a:t>
            </a:r>
          </a:p>
        </p:txBody>
      </p:sp>
      <p:pic>
        <p:nvPicPr>
          <p:cNvPr id="2" name="Online Media 1" title="RiskForge Ticket Demo (Subtitles)">
            <a:hlinkClick r:id="" action="ppaction://media"/>
            <a:extLst>
              <a:ext uri="{FF2B5EF4-FFF2-40B4-BE49-F238E27FC236}">
                <a16:creationId xmlns:a16="http://schemas.microsoft.com/office/drawing/2014/main" id="{252CF21C-D72D-8E3A-C266-5F93DF995641}"/>
              </a:ext>
            </a:extLst>
          </p:cNvPr>
          <p:cNvPicPr>
            <a:picLocks noRot="1" noChangeAspect="1"/>
          </p:cNvPicPr>
          <p:nvPr>
            <a:videoFile r:link="rId1"/>
          </p:nvPr>
        </p:nvPicPr>
        <p:blipFill>
          <a:blip r:embed="rId4"/>
          <a:stretch>
            <a:fillRect/>
          </a:stretch>
        </p:blipFill>
        <p:spPr>
          <a:xfrm>
            <a:off x="1015998" y="697009"/>
            <a:ext cx="10160000" cy="5740400"/>
          </a:xfrm>
          <a:prstGeom prst="rect">
            <a:avLst/>
          </a:prstGeom>
        </p:spPr>
      </p:pic>
    </p:spTree>
    <p:extLst>
      <p:ext uri="{BB962C8B-B14F-4D97-AF65-F5344CB8AC3E}">
        <p14:creationId xmlns:p14="http://schemas.microsoft.com/office/powerpoint/2010/main" val="300959565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F54CA12-D8DA-710A-34F0-307D289F68E8}"/>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DDA94B8-70FC-CEB1-3212-B08E977D0D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75FD48FF-E1EB-2085-9436-9614BF4EB4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Network Technology Background">
            <a:extLst>
              <a:ext uri="{FF2B5EF4-FFF2-40B4-BE49-F238E27FC236}">
                <a16:creationId xmlns:a16="http://schemas.microsoft.com/office/drawing/2014/main" id="{3DD211D0-CC3A-5A5A-CE1D-E275B70DEC7E}"/>
              </a:ext>
            </a:extLst>
          </p:cNvPr>
          <p:cNvPicPr>
            <a:picLocks noChangeAspect="1"/>
          </p:cNvPicPr>
          <p:nvPr/>
        </p:nvPicPr>
        <p:blipFill>
          <a:blip r:embed="rId3">
            <a:alphaModFix amt="60000"/>
          </a:blip>
          <a:srcRect b="3433"/>
          <a:stretch/>
        </p:blipFill>
        <p:spPr>
          <a:xfrm>
            <a:off x="-2" y="1"/>
            <a:ext cx="12192000" cy="6857999"/>
          </a:xfrm>
          <a:prstGeom prst="rect">
            <a:avLst/>
          </a:prstGeom>
        </p:spPr>
      </p:pic>
      <p:sp>
        <p:nvSpPr>
          <p:cNvPr id="14" name="Title 13">
            <a:extLst>
              <a:ext uri="{FF2B5EF4-FFF2-40B4-BE49-F238E27FC236}">
                <a16:creationId xmlns:a16="http://schemas.microsoft.com/office/drawing/2014/main" id="{0D577F40-5AAD-7739-C648-81AA69B69E3C}"/>
              </a:ext>
            </a:extLst>
          </p:cNvPr>
          <p:cNvSpPr>
            <a:spLocks noGrp="1"/>
          </p:cNvSpPr>
          <p:nvPr>
            <p:ph type="ctrTitle"/>
          </p:nvPr>
        </p:nvSpPr>
        <p:spPr>
          <a:xfrm>
            <a:off x="2301922" y="-1"/>
            <a:ext cx="7588155" cy="697010"/>
          </a:xfrm>
        </p:spPr>
        <p:txBody>
          <a:bodyPr>
            <a:normAutofit/>
          </a:bodyPr>
          <a:lstStyle/>
          <a:p>
            <a:r>
              <a:rPr lang="en-GB" sz="3200" b="0"/>
              <a:t>AI-Assisted Analysis Demo</a:t>
            </a:r>
          </a:p>
        </p:txBody>
      </p:sp>
      <p:sp>
        <p:nvSpPr>
          <p:cNvPr id="5" name="TextBox 4">
            <a:extLst>
              <a:ext uri="{FF2B5EF4-FFF2-40B4-BE49-F238E27FC236}">
                <a16:creationId xmlns:a16="http://schemas.microsoft.com/office/drawing/2014/main" id="{EA8D8445-0C1A-728A-1E51-EA86CE2568A7}"/>
              </a:ext>
            </a:extLst>
          </p:cNvPr>
          <p:cNvSpPr txBox="1"/>
          <p:nvPr/>
        </p:nvSpPr>
        <p:spPr>
          <a:xfrm>
            <a:off x="2540377" y="6488669"/>
            <a:ext cx="7111242" cy="369332"/>
          </a:xfrm>
          <a:prstGeom prst="rect">
            <a:avLst/>
          </a:prstGeom>
          <a:noFill/>
        </p:spPr>
        <p:txBody>
          <a:bodyPr wrap="none" rtlCol="0">
            <a:spAutoFit/>
          </a:bodyPr>
          <a:lstStyle/>
          <a:p>
            <a:r>
              <a:rPr lang="en-GB" i="1"/>
              <a:t>AI-generated insights and remediation guidance for vulnerabilities</a:t>
            </a:r>
          </a:p>
        </p:txBody>
      </p:sp>
      <p:pic>
        <p:nvPicPr>
          <p:cNvPr id="3" name="Online Media 2" title="RiskForge AI Analysis Demo (Subtitles)">
            <a:hlinkClick r:id="" action="ppaction://media"/>
            <a:extLst>
              <a:ext uri="{FF2B5EF4-FFF2-40B4-BE49-F238E27FC236}">
                <a16:creationId xmlns:a16="http://schemas.microsoft.com/office/drawing/2014/main" id="{5CC45680-395E-B838-EF8E-3EC4C72289B0}"/>
              </a:ext>
            </a:extLst>
          </p:cNvPr>
          <p:cNvPicPr>
            <a:picLocks noRot="1" noChangeAspect="1"/>
          </p:cNvPicPr>
          <p:nvPr>
            <a:videoFile r:link="rId1"/>
          </p:nvPr>
        </p:nvPicPr>
        <p:blipFill>
          <a:blip r:embed="rId4"/>
          <a:stretch>
            <a:fillRect/>
          </a:stretch>
        </p:blipFill>
        <p:spPr>
          <a:xfrm>
            <a:off x="1015998" y="697009"/>
            <a:ext cx="10160000" cy="5740400"/>
          </a:xfrm>
          <a:prstGeom prst="rect">
            <a:avLst/>
          </a:prstGeom>
        </p:spPr>
      </p:pic>
    </p:spTree>
    <p:extLst>
      <p:ext uri="{BB962C8B-B14F-4D97-AF65-F5344CB8AC3E}">
        <p14:creationId xmlns:p14="http://schemas.microsoft.com/office/powerpoint/2010/main" val="129806102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F54CA12-D8DA-710A-34F0-307D289F68E8}"/>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DDA94B8-70FC-CEB1-3212-B08E977D0D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75FD48FF-E1EB-2085-9436-9614BF4EB4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Network Technology Background">
            <a:extLst>
              <a:ext uri="{FF2B5EF4-FFF2-40B4-BE49-F238E27FC236}">
                <a16:creationId xmlns:a16="http://schemas.microsoft.com/office/drawing/2014/main" id="{3DD211D0-CC3A-5A5A-CE1D-E275B70DEC7E}"/>
              </a:ext>
            </a:extLst>
          </p:cNvPr>
          <p:cNvPicPr>
            <a:picLocks noChangeAspect="1"/>
          </p:cNvPicPr>
          <p:nvPr/>
        </p:nvPicPr>
        <p:blipFill>
          <a:blip r:embed="rId3">
            <a:alphaModFix amt="60000"/>
          </a:blip>
          <a:srcRect b="3433"/>
          <a:stretch/>
        </p:blipFill>
        <p:spPr>
          <a:xfrm>
            <a:off x="-2" y="1"/>
            <a:ext cx="12192000" cy="6857999"/>
          </a:xfrm>
          <a:prstGeom prst="rect">
            <a:avLst/>
          </a:prstGeom>
        </p:spPr>
      </p:pic>
      <p:sp>
        <p:nvSpPr>
          <p:cNvPr id="14" name="Title 13">
            <a:extLst>
              <a:ext uri="{FF2B5EF4-FFF2-40B4-BE49-F238E27FC236}">
                <a16:creationId xmlns:a16="http://schemas.microsoft.com/office/drawing/2014/main" id="{0D577F40-5AAD-7739-C648-81AA69B69E3C}"/>
              </a:ext>
            </a:extLst>
          </p:cNvPr>
          <p:cNvSpPr>
            <a:spLocks noGrp="1"/>
          </p:cNvSpPr>
          <p:nvPr>
            <p:ph type="ctrTitle"/>
          </p:nvPr>
        </p:nvSpPr>
        <p:spPr>
          <a:xfrm>
            <a:off x="2301922" y="-1"/>
            <a:ext cx="7588155" cy="697010"/>
          </a:xfrm>
        </p:spPr>
        <p:txBody>
          <a:bodyPr>
            <a:normAutofit/>
          </a:bodyPr>
          <a:lstStyle/>
          <a:p>
            <a:r>
              <a:rPr lang="en-GB" sz="3200" b="0"/>
              <a:t>Audit Logging Demo</a:t>
            </a:r>
          </a:p>
        </p:txBody>
      </p:sp>
      <p:sp>
        <p:nvSpPr>
          <p:cNvPr id="5" name="TextBox 4">
            <a:extLst>
              <a:ext uri="{FF2B5EF4-FFF2-40B4-BE49-F238E27FC236}">
                <a16:creationId xmlns:a16="http://schemas.microsoft.com/office/drawing/2014/main" id="{EA8D8445-0C1A-728A-1E51-EA86CE2568A7}"/>
              </a:ext>
            </a:extLst>
          </p:cNvPr>
          <p:cNvSpPr txBox="1"/>
          <p:nvPr/>
        </p:nvSpPr>
        <p:spPr>
          <a:xfrm>
            <a:off x="2212563" y="6488667"/>
            <a:ext cx="7766870" cy="369332"/>
          </a:xfrm>
          <a:prstGeom prst="rect">
            <a:avLst/>
          </a:prstGeom>
          <a:noFill/>
        </p:spPr>
        <p:txBody>
          <a:bodyPr wrap="none" rtlCol="0">
            <a:spAutoFit/>
          </a:bodyPr>
          <a:lstStyle/>
          <a:p>
            <a:r>
              <a:rPr lang="en-GB" i="1"/>
              <a:t>Tracking user actions and system events for security and accountability</a:t>
            </a:r>
          </a:p>
        </p:txBody>
      </p:sp>
      <p:pic>
        <p:nvPicPr>
          <p:cNvPr id="2" name="Online Media 1" title="RiskForge Audit Log Demo (Subtitles)">
            <a:hlinkClick r:id="" action="ppaction://media"/>
            <a:extLst>
              <a:ext uri="{FF2B5EF4-FFF2-40B4-BE49-F238E27FC236}">
                <a16:creationId xmlns:a16="http://schemas.microsoft.com/office/drawing/2014/main" id="{9F6A0EAC-2982-3AEA-D75F-C983D4C29294}"/>
              </a:ext>
            </a:extLst>
          </p:cNvPr>
          <p:cNvPicPr>
            <a:picLocks noRot="1" noChangeAspect="1"/>
          </p:cNvPicPr>
          <p:nvPr>
            <a:videoFile r:link="rId1"/>
          </p:nvPr>
        </p:nvPicPr>
        <p:blipFill>
          <a:blip r:embed="rId4"/>
          <a:stretch>
            <a:fillRect/>
          </a:stretch>
        </p:blipFill>
        <p:spPr>
          <a:xfrm>
            <a:off x="1015998" y="697009"/>
            <a:ext cx="10160000" cy="5740400"/>
          </a:xfrm>
          <a:prstGeom prst="rect">
            <a:avLst/>
          </a:prstGeom>
        </p:spPr>
      </p:pic>
    </p:spTree>
    <p:extLst>
      <p:ext uri="{BB962C8B-B14F-4D97-AF65-F5344CB8AC3E}">
        <p14:creationId xmlns:p14="http://schemas.microsoft.com/office/powerpoint/2010/main" val="213119989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540FCF2-68CD-A342-3825-A540546C4DDF}"/>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E12EBAA-6657-44F1-666A-D521E1990E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6530ABDB-D9AB-54C6-3FA7-CEC72FD334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Network Technology Background">
            <a:extLst>
              <a:ext uri="{FF2B5EF4-FFF2-40B4-BE49-F238E27FC236}">
                <a16:creationId xmlns:a16="http://schemas.microsoft.com/office/drawing/2014/main" id="{B5AE82ED-0990-C2FB-E723-DDDD988268F0}"/>
              </a:ext>
            </a:extLst>
          </p:cNvPr>
          <p:cNvPicPr>
            <a:picLocks noChangeAspect="1"/>
          </p:cNvPicPr>
          <p:nvPr/>
        </p:nvPicPr>
        <p:blipFill>
          <a:blip r:embed="rId2">
            <a:alphaModFix amt="60000"/>
          </a:blip>
          <a:srcRect b="3433"/>
          <a:stretch/>
        </p:blipFill>
        <p:spPr>
          <a:xfrm>
            <a:off x="-1" y="1"/>
            <a:ext cx="12192000" cy="6857999"/>
          </a:xfrm>
          <a:prstGeom prst="rect">
            <a:avLst/>
          </a:prstGeom>
        </p:spPr>
      </p:pic>
      <p:sp>
        <p:nvSpPr>
          <p:cNvPr id="14" name="Title 13">
            <a:extLst>
              <a:ext uri="{FF2B5EF4-FFF2-40B4-BE49-F238E27FC236}">
                <a16:creationId xmlns:a16="http://schemas.microsoft.com/office/drawing/2014/main" id="{8E1B3960-0531-E703-2897-6B5E91E46526}"/>
              </a:ext>
            </a:extLst>
          </p:cNvPr>
          <p:cNvSpPr>
            <a:spLocks noGrp="1"/>
          </p:cNvSpPr>
          <p:nvPr>
            <p:ph type="ctrTitle"/>
          </p:nvPr>
        </p:nvSpPr>
        <p:spPr>
          <a:xfrm>
            <a:off x="2301922" y="-1"/>
            <a:ext cx="7588155" cy="697010"/>
          </a:xfrm>
        </p:spPr>
        <p:txBody>
          <a:bodyPr>
            <a:normAutofit/>
          </a:bodyPr>
          <a:lstStyle/>
          <a:p>
            <a:r>
              <a:rPr lang="en-GB" sz="3200" b="0"/>
              <a:t>Technology Stack</a:t>
            </a:r>
          </a:p>
        </p:txBody>
      </p:sp>
      <p:sp>
        <p:nvSpPr>
          <p:cNvPr id="20" name="TextBox 19">
            <a:extLst>
              <a:ext uri="{FF2B5EF4-FFF2-40B4-BE49-F238E27FC236}">
                <a16:creationId xmlns:a16="http://schemas.microsoft.com/office/drawing/2014/main" id="{1D71F050-963D-5919-C588-390F82389A35}"/>
              </a:ext>
            </a:extLst>
          </p:cNvPr>
          <p:cNvSpPr txBox="1"/>
          <p:nvPr/>
        </p:nvSpPr>
        <p:spPr>
          <a:xfrm>
            <a:off x="2671439" y="827640"/>
            <a:ext cx="5190480" cy="4216539"/>
          </a:xfrm>
          <a:prstGeom prst="rect">
            <a:avLst/>
          </a:prstGeom>
          <a:noFill/>
        </p:spPr>
        <p:txBody>
          <a:bodyPr wrap="square" rtlCol="0">
            <a:spAutoFit/>
          </a:bodyPr>
          <a:lstStyle/>
          <a:p>
            <a:r>
              <a:rPr lang="en-GB" sz="2600" b="1"/>
              <a:t>Backend</a:t>
            </a:r>
          </a:p>
          <a:p>
            <a:pPr marL="285750" indent="-285750">
              <a:buFont typeface="Arial" panose="020B0604020202020204" pitchFamily="34" charset="0"/>
              <a:buChar char="•"/>
            </a:pPr>
            <a:r>
              <a:rPr lang="en-GB" sz="2400"/>
              <a:t>Python (Flask)</a:t>
            </a:r>
          </a:p>
          <a:p>
            <a:pPr marL="285750" indent="-285750">
              <a:buFont typeface="Arial" panose="020B0604020202020204" pitchFamily="34" charset="0"/>
              <a:buChar char="•"/>
            </a:pPr>
            <a:r>
              <a:rPr lang="en-GB" sz="2400"/>
              <a:t>REST API</a:t>
            </a:r>
          </a:p>
          <a:p>
            <a:pPr marL="285750" indent="-285750">
              <a:buFont typeface="Arial" panose="020B0604020202020204" pitchFamily="34" charset="0"/>
              <a:buChar char="•"/>
            </a:pPr>
            <a:endParaRPr lang="en-GB" sz="2400" b="1"/>
          </a:p>
          <a:p>
            <a:r>
              <a:rPr lang="en-GB" sz="2600" b="1"/>
              <a:t>Frontend</a:t>
            </a:r>
          </a:p>
          <a:p>
            <a:pPr marL="285750" indent="-285750">
              <a:buFont typeface="Arial" panose="020B0604020202020204" pitchFamily="34" charset="0"/>
              <a:buChar char="•"/>
            </a:pPr>
            <a:r>
              <a:rPr lang="en-GB" sz="2400"/>
              <a:t>HTML/CSS</a:t>
            </a:r>
          </a:p>
          <a:p>
            <a:pPr marL="285750" indent="-285750">
              <a:buFont typeface="Arial" panose="020B0604020202020204" pitchFamily="34" charset="0"/>
              <a:buChar char="•"/>
            </a:pPr>
            <a:r>
              <a:rPr lang="en-GB" sz="2400"/>
              <a:t>Jinja2</a:t>
            </a:r>
          </a:p>
          <a:p>
            <a:pPr marL="285750" indent="-285750">
              <a:buFont typeface="Arial" panose="020B0604020202020204" pitchFamily="34" charset="0"/>
              <a:buChar char="•"/>
            </a:pPr>
            <a:endParaRPr lang="en-GB" sz="2400" b="1"/>
          </a:p>
          <a:p>
            <a:r>
              <a:rPr lang="en-GB" sz="2600" b="1"/>
              <a:t>Database</a:t>
            </a:r>
          </a:p>
          <a:p>
            <a:pPr marL="285750" indent="-285750">
              <a:buFont typeface="Arial" panose="020B0604020202020204" pitchFamily="34" charset="0"/>
              <a:buChar char="•"/>
            </a:pPr>
            <a:r>
              <a:rPr lang="en-GB" sz="2400"/>
              <a:t>MariaDB</a:t>
            </a:r>
          </a:p>
          <a:p>
            <a:endParaRPr lang="en-GB" sz="2400" b="1"/>
          </a:p>
        </p:txBody>
      </p:sp>
      <p:sp>
        <p:nvSpPr>
          <p:cNvPr id="2" name="TextBox 1">
            <a:extLst>
              <a:ext uri="{FF2B5EF4-FFF2-40B4-BE49-F238E27FC236}">
                <a16:creationId xmlns:a16="http://schemas.microsoft.com/office/drawing/2014/main" id="{39D815F8-1910-59D5-3034-4BF194C8BAF6}"/>
              </a:ext>
            </a:extLst>
          </p:cNvPr>
          <p:cNvSpPr txBox="1"/>
          <p:nvPr/>
        </p:nvSpPr>
        <p:spPr>
          <a:xfrm>
            <a:off x="6054889" y="816755"/>
            <a:ext cx="5190480" cy="5693866"/>
          </a:xfrm>
          <a:prstGeom prst="rect">
            <a:avLst/>
          </a:prstGeom>
          <a:noFill/>
        </p:spPr>
        <p:txBody>
          <a:bodyPr wrap="square" rtlCol="0">
            <a:spAutoFit/>
          </a:bodyPr>
          <a:lstStyle/>
          <a:p>
            <a:r>
              <a:rPr lang="en-GB" sz="2600" b="1"/>
              <a:t>External Integrations</a:t>
            </a:r>
          </a:p>
          <a:p>
            <a:pPr marL="285750" indent="-285750">
              <a:buFont typeface="Arial" panose="020B0604020202020204" pitchFamily="34" charset="0"/>
              <a:buChar char="•"/>
            </a:pPr>
            <a:r>
              <a:rPr lang="en-GB" sz="2400"/>
              <a:t>OpenVAS (GVM)</a:t>
            </a:r>
          </a:p>
          <a:p>
            <a:pPr marL="285750" indent="-285750">
              <a:buFont typeface="Arial" panose="020B0604020202020204" pitchFamily="34" charset="0"/>
              <a:buChar char="•"/>
            </a:pPr>
            <a:r>
              <a:rPr lang="en-GB" sz="2400"/>
              <a:t>Nmap, </a:t>
            </a:r>
            <a:r>
              <a:rPr lang="en-GB" sz="2400" err="1"/>
              <a:t>Nikto</a:t>
            </a:r>
            <a:r>
              <a:rPr lang="en-GB" sz="2400"/>
              <a:t>, Nuclei</a:t>
            </a:r>
          </a:p>
          <a:p>
            <a:pPr marL="285750" indent="-285750">
              <a:buFont typeface="Arial" panose="020B0604020202020204" pitchFamily="34" charset="0"/>
              <a:buChar char="•"/>
            </a:pPr>
            <a:r>
              <a:rPr lang="en-GB" sz="2400" err="1"/>
              <a:t>Groq</a:t>
            </a:r>
            <a:r>
              <a:rPr lang="en-GB" sz="2400"/>
              <a:t> API</a:t>
            </a:r>
          </a:p>
          <a:p>
            <a:pPr marL="285750" indent="-285750">
              <a:buFont typeface="Arial" panose="020B0604020202020204" pitchFamily="34" charset="0"/>
              <a:buChar char="•"/>
            </a:pPr>
            <a:endParaRPr lang="en-GB" sz="2400" b="1"/>
          </a:p>
          <a:p>
            <a:r>
              <a:rPr lang="en-GB" sz="2600" b="1"/>
              <a:t>Security</a:t>
            </a:r>
          </a:p>
          <a:p>
            <a:pPr marL="285750" indent="-285750">
              <a:buFont typeface="Arial" panose="020B0604020202020204" pitchFamily="34" charset="0"/>
              <a:buChar char="•"/>
            </a:pPr>
            <a:r>
              <a:rPr lang="en-GB" sz="2400"/>
              <a:t>bcrypt</a:t>
            </a:r>
          </a:p>
          <a:p>
            <a:pPr marL="285750" indent="-285750">
              <a:buFont typeface="Arial" panose="020B0604020202020204" pitchFamily="34" charset="0"/>
              <a:buChar char="•"/>
            </a:pPr>
            <a:r>
              <a:rPr lang="en-GB" sz="2400"/>
              <a:t>RBAC</a:t>
            </a:r>
          </a:p>
          <a:p>
            <a:pPr marL="285750" indent="-285750">
              <a:buFont typeface="Arial" panose="020B0604020202020204" pitchFamily="34" charset="0"/>
              <a:buChar char="•"/>
            </a:pPr>
            <a:r>
              <a:rPr lang="en-GB" sz="2400"/>
              <a:t>HTTPS</a:t>
            </a:r>
          </a:p>
          <a:p>
            <a:pPr marL="285750" indent="-285750">
              <a:buFont typeface="Arial" panose="020B0604020202020204" pitchFamily="34" charset="0"/>
              <a:buChar char="•"/>
            </a:pPr>
            <a:endParaRPr lang="en-GB" sz="2400" b="1"/>
          </a:p>
          <a:p>
            <a:r>
              <a:rPr lang="en-GB" sz="2600" b="1"/>
              <a:t>Development Tools</a:t>
            </a:r>
          </a:p>
          <a:p>
            <a:pPr marL="285750" indent="-285750">
              <a:buFont typeface="Arial" panose="020B0604020202020204" pitchFamily="34" charset="0"/>
              <a:buChar char="•"/>
            </a:pPr>
            <a:r>
              <a:rPr lang="en-GB" sz="2400"/>
              <a:t>GitHub</a:t>
            </a:r>
          </a:p>
          <a:p>
            <a:pPr marL="285750" indent="-285750">
              <a:buFont typeface="Arial" panose="020B0604020202020204" pitchFamily="34" charset="0"/>
              <a:buChar char="•"/>
            </a:pPr>
            <a:r>
              <a:rPr lang="en-GB" sz="2400"/>
              <a:t>Trello</a:t>
            </a:r>
          </a:p>
          <a:p>
            <a:pPr marL="285750" indent="-285750">
              <a:buFont typeface="Arial" panose="020B0604020202020204" pitchFamily="34" charset="0"/>
              <a:buChar char="•"/>
            </a:pPr>
            <a:r>
              <a:rPr lang="en-GB" sz="2400"/>
              <a:t>VS Code</a:t>
            </a:r>
          </a:p>
          <a:p>
            <a:endParaRPr lang="en-GB" sz="2400" b="1"/>
          </a:p>
        </p:txBody>
      </p:sp>
    </p:spTree>
    <p:extLst>
      <p:ext uri="{BB962C8B-B14F-4D97-AF65-F5344CB8AC3E}">
        <p14:creationId xmlns:p14="http://schemas.microsoft.com/office/powerpoint/2010/main" val="932577060"/>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E0180CF-4687-25D3-7D63-5B93FF346852}"/>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0A0AD5A-ED1D-B01E-AA23-7FD46F470E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EDA65EA3-4DC4-CCE5-BA78-EEA8516D9D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Network Technology Background">
            <a:extLst>
              <a:ext uri="{FF2B5EF4-FFF2-40B4-BE49-F238E27FC236}">
                <a16:creationId xmlns:a16="http://schemas.microsoft.com/office/drawing/2014/main" id="{028EBBF2-2787-AD73-3956-95DE8F72C45E}"/>
              </a:ext>
            </a:extLst>
          </p:cNvPr>
          <p:cNvPicPr>
            <a:picLocks noChangeAspect="1"/>
          </p:cNvPicPr>
          <p:nvPr/>
        </p:nvPicPr>
        <p:blipFill>
          <a:blip r:embed="rId3">
            <a:alphaModFix amt="60000"/>
          </a:blip>
          <a:srcRect b="3433"/>
          <a:stretch/>
        </p:blipFill>
        <p:spPr>
          <a:xfrm>
            <a:off x="0" y="0"/>
            <a:ext cx="12192000" cy="6857999"/>
          </a:xfrm>
          <a:prstGeom prst="rect">
            <a:avLst/>
          </a:prstGeom>
        </p:spPr>
      </p:pic>
      <p:sp>
        <p:nvSpPr>
          <p:cNvPr id="14" name="Title 13">
            <a:extLst>
              <a:ext uri="{FF2B5EF4-FFF2-40B4-BE49-F238E27FC236}">
                <a16:creationId xmlns:a16="http://schemas.microsoft.com/office/drawing/2014/main" id="{A099CB31-4B24-137D-A65C-EF2BE0388AC7}"/>
              </a:ext>
            </a:extLst>
          </p:cNvPr>
          <p:cNvSpPr>
            <a:spLocks noGrp="1"/>
          </p:cNvSpPr>
          <p:nvPr>
            <p:ph type="ctrTitle"/>
          </p:nvPr>
        </p:nvSpPr>
        <p:spPr>
          <a:xfrm>
            <a:off x="2301922" y="-1"/>
            <a:ext cx="7588155" cy="697010"/>
          </a:xfrm>
        </p:spPr>
        <p:txBody>
          <a:bodyPr>
            <a:normAutofit/>
          </a:bodyPr>
          <a:lstStyle/>
          <a:p>
            <a:r>
              <a:rPr lang="en-GB" sz="3200" b="0"/>
              <a:t>System Architecture</a:t>
            </a:r>
          </a:p>
        </p:txBody>
      </p:sp>
      <p:sp>
        <p:nvSpPr>
          <p:cNvPr id="20" name="TextBox 19">
            <a:extLst>
              <a:ext uri="{FF2B5EF4-FFF2-40B4-BE49-F238E27FC236}">
                <a16:creationId xmlns:a16="http://schemas.microsoft.com/office/drawing/2014/main" id="{2589435D-4BC1-087E-A6B3-A936776C3F00}"/>
              </a:ext>
            </a:extLst>
          </p:cNvPr>
          <p:cNvSpPr txBox="1"/>
          <p:nvPr/>
        </p:nvSpPr>
        <p:spPr>
          <a:xfrm>
            <a:off x="6801310" y="671690"/>
            <a:ext cx="5676595" cy="6186309"/>
          </a:xfrm>
          <a:prstGeom prst="rect">
            <a:avLst/>
          </a:prstGeom>
          <a:noFill/>
        </p:spPr>
        <p:txBody>
          <a:bodyPr wrap="square" rtlCol="0">
            <a:spAutoFit/>
          </a:bodyPr>
          <a:lstStyle/>
          <a:p>
            <a:r>
              <a:rPr lang="en-GB" b="1"/>
              <a:t>Architecture Overview</a:t>
            </a:r>
          </a:p>
          <a:p>
            <a:r>
              <a:rPr lang="en-GB"/>
              <a:t>Modular client–server architecture </a:t>
            </a:r>
          </a:p>
          <a:p>
            <a:r>
              <a:rPr lang="en-GB"/>
              <a:t>Clear separation of: </a:t>
            </a:r>
          </a:p>
          <a:p>
            <a:pPr marL="285750" indent="-285750">
              <a:buFont typeface="Arial" panose="020B0604020202020204" pitchFamily="34" charset="0"/>
              <a:buChar char="•"/>
            </a:pPr>
            <a:r>
              <a:rPr lang="en-GB"/>
              <a:t>Presentation </a:t>
            </a:r>
          </a:p>
          <a:p>
            <a:pPr marL="285750" indent="-285750">
              <a:buFont typeface="Arial" panose="020B0604020202020204" pitchFamily="34" charset="0"/>
              <a:buChar char="•"/>
            </a:pPr>
            <a:r>
              <a:rPr lang="en-GB"/>
              <a:t>Application logic </a:t>
            </a:r>
          </a:p>
          <a:p>
            <a:pPr marL="285750" indent="-285750">
              <a:buFont typeface="Arial" panose="020B0604020202020204" pitchFamily="34" charset="0"/>
              <a:buChar char="•"/>
            </a:pPr>
            <a:r>
              <a:rPr lang="en-GB"/>
              <a:t>Data storage </a:t>
            </a:r>
          </a:p>
          <a:p>
            <a:pPr marL="285750" indent="-285750">
              <a:buFont typeface="Arial" panose="020B0604020202020204" pitchFamily="34" charset="0"/>
              <a:buChar char="•"/>
            </a:pPr>
            <a:r>
              <a:rPr lang="en-GB"/>
              <a:t>External integrations </a:t>
            </a:r>
          </a:p>
          <a:p>
            <a:endParaRPr lang="en-GB"/>
          </a:p>
          <a:p>
            <a:r>
              <a:rPr lang="en-GB" b="1"/>
              <a:t>Core Flow</a:t>
            </a:r>
          </a:p>
          <a:p>
            <a:r>
              <a:rPr lang="en-GB"/>
              <a:t>User interacts via web interface</a:t>
            </a:r>
          </a:p>
          <a:p>
            <a:r>
              <a:rPr lang="en-GB"/>
              <a:t>Backend API handles: </a:t>
            </a:r>
          </a:p>
          <a:p>
            <a:pPr marL="285750" indent="-285750">
              <a:buFont typeface="Arial" panose="020B0604020202020204" pitchFamily="34" charset="0"/>
              <a:buChar char="•"/>
            </a:pPr>
            <a:r>
              <a:rPr lang="en-GB"/>
              <a:t>Authentication </a:t>
            </a:r>
          </a:p>
          <a:p>
            <a:pPr marL="285750" indent="-285750">
              <a:buFont typeface="Arial" panose="020B0604020202020204" pitchFamily="34" charset="0"/>
              <a:buChar char="•"/>
            </a:pPr>
            <a:r>
              <a:rPr lang="en-GB"/>
              <a:t>Scan orchestration </a:t>
            </a:r>
          </a:p>
          <a:p>
            <a:pPr marL="285750" indent="-285750">
              <a:buFont typeface="Arial" panose="020B0604020202020204" pitchFamily="34" charset="0"/>
              <a:buChar char="•"/>
            </a:pPr>
            <a:r>
              <a:rPr lang="en-GB"/>
              <a:t>Risk scoring </a:t>
            </a:r>
          </a:p>
          <a:p>
            <a:r>
              <a:rPr lang="en-GB"/>
              <a:t>Data stored in MariaDB </a:t>
            </a:r>
          </a:p>
          <a:p>
            <a:endParaRPr lang="en-GB"/>
          </a:p>
          <a:p>
            <a:r>
              <a:rPr lang="en-GB" b="1"/>
              <a:t>External Integrations</a:t>
            </a:r>
          </a:p>
          <a:p>
            <a:pPr marL="285750" indent="-285750">
              <a:buFont typeface="Arial" panose="020B0604020202020204" pitchFamily="34" charset="0"/>
              <a:buChar char="•"/>
            </a:pPr>
            <a:r>
              <a:rPr lang="en-GB"/>
              <a:t>Scanner Host (Kali Linux) - executes tools</a:t>
            </a:r>
          </a:p>
          <a:p>
            <a:pPr marL="285750" indent="-285750">
              <a:buFont typeface="Arial" panose="020B0604020202020204" pitchFamily="34" charset="0"/>
              <a:buChar char="•"/>
            </a:pPr>
            <a:r>
              <a:rPr lang="en-GB"/>
              <a:t>OpenVAS (GVM) - vulnerability scanning</a:t>
            </a:r>
          </a:p>
          <a:p>
            <a:pPr marL="285750" indent="-285750">
              <a:buFont typeface="Arial" panose="020B0604020202020204" pitchFamily="34" charset="0"/>
              <a:buChar char="•"/>
            </a:pPr>
            <a:r>
              <a:rPr lang="en-GB" err="1"/>
              <a:t>Groq</a:t>
            </a:r>
            <a:r>
              <a:rPr lang="en-GB"/>
              <a:t> API - AI analysis and insights</a:t>
            </a:r>
          </a:p>
          <a:p>
            <a:br>
              <a:rPr lang="en-GB"/>
            </a:br>
            <a:endParaRPr lang="en-GB"/>
          </a:p>
        </p:txBody>
      </p:sp>
      <p:pic>
        <p:nvPicPr>
          <p:cNvPr id="2" name="Picture 1">
            <a:extLst>
              <a:ext uri="{FF2B5EF4-FFF2-40B4-BE49-F238E27FC236}">
                <a16:creationId xmlns:a16="http://schemas.microsoft.com/office/drawing/2014/main" id="{843BA15D-47CA-B9E8-F9AC-F846F9932B95}"/>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2194" y="754159"/>
            <a:ext cx="6281519" cy="5145898"/>
          </a:xfrm>
          <a:prstGeom prst="rect">
            <a:avLst/>
          </a:prstGeom>
          <a:noFill/>
          <a:ln>
            <a:noFill/>
          </a:ln>
        </p:spPr>
      </p:pic>
    </p:spTree>
    <p:extLst>
      <p:ext uri="{BB962C8B-B14F-4D97-AF65-F5344CB8AC3E}">
        <p14:creationId xmlns:p14="http://schemas.microsoft.com/office/powerpoint/2010/main" val="4134965825"/>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9D316D6-4DCF-A2BD-28C1-A06104CE62BD}"/>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D986621-B562-9E34-AF13-4B6AFC5E19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914A25B4-15D9-8023-F333-091BF9AF80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Network Technology Background">
            <a:extLst>
              <a:ext uri="{FF2B5EF4-FFF2-40B4-BE49-F238E27FC236}">
                <a16:creationId xmlns:a16="http://schemas.microsoft.com/office/drawing/2014/main" id="{372FE6FC-090F-F2B2-4E5C-D8B10AFE5237}"/>
              </a:ext>
            </a:extLst>
          </p:cNvPr>
          <p:cNvPicPr>
            <a:picLocks noChangeAspect="1"/>
          </p:cNvPicPr>
          <p:nvPr/>
        </p:nvPicPr>
        <p:blipFill>
          <a:blip r:embed="rId2">
            <a:alphaModFix amt="60000"/>
            <a:extLst>
              <a:ext uri="{BEBA8EAE-BF5A-486C-A8C5-ECC9F3942E4B}">
                <a14:imgProps xmlns:a14="http://schemas.microsoft.com/office/drawing/2010/main">
                  <a14:imgLayer r:embed="rId3">
                    <a14:imgEffect>
                      <a14:artisticBlur/>
                    </a14:imgEffect>
                  </a14:imgLayer>
                </a14:imgProps>
              </a:ext>
            </a:extLst>
          </a:blip>
          <a:srcRect b="3433"/>
          <a:stretch/>
        </p:blipFill>
        <p:spPr>
          <a:xfrm>
            <a:off x="-2" y="1"/>
            <a:ext cx="12192000" cy="6857999"/>
          </a:xfrm>
          <a:prstGeom prst="rect">
            <a:avLst/>
          </a:prstGeom>
          <a:solidFill>
            <a:schemeClr val="bg1"/>
          </a:solidFill>
          <a:effectLst>
            <a:glow>
              <a:schemeClr val="bg1"/>
            </a:glow>
            <a:outerShdw blurRad="50800" dist="50800" dir="5400000" sx="1000" sy="1000" algn="ctr" rotWithShape="0">
              <a:srgbClr val="000000">
                <a:alpha val="41000"/>
              </a:srgbClr>
            </a:outerShdw>
          </a:effectLst>
        </p:spPr>
      </p:pic>
      <p:sp>
        <p:nvSpPr>
          <p:cNvPr id="14" name="Title 13">
            <a:extLst>
              <a:ext uri="{FF2B5EF4-FFF2-40B4-BE49-F238E27FC236}">
                <a16:creationId xmlns:a16="http://schemas.microsoft.com/office/drawing/2014/main" id="{DFEAC004-B845-2454-8585-92D5CAC63651}"/>
              </a:ext>
            </a:extLst>
          </p:cNvPr>
          <p:cNvSpPr>
            <a:spLocks noGrp="1"/>
          </p:cNvSpPr>
          <p:nvPr>
            <p:ph type="ctrTitle"/>
          </p:nvPr>
        </p:nvSpPr>
        <p:spPr>
          <a:xfrm>
            <a:off x="2301921" y="59750"/>
            <a:ext cx="7588155" cy="697010"/>
          </a:xfrm>
        </p:spPr>
        <p:txBody>
          <a:bodyPr>
            <a:normAutofit/>
          </a:bodyPr>
          <a:lstStyle/>
          <a:p>
            <a:r>
              <a:rPr lang="en-GB" sz="3200" b="0"/>
              <a:t>Testing and Validation</a:t>
            </a:r>
          </a:p>
        </p:txBody>
      </p:sp>
      <p:sp>
        <p:nvSpPr>
          <p:cNvPr id="3" name="TextBox 2">
            <a:extLst>
              <a:ext uri="{FF2B5EF4-FFF2-40B4-BE49-F238E27FC236}">
                <a16:creationId xmlns:a16="http://schemas.microsoft.com/office/drawing/2014/main" id="{2AA3073B-7EC0-E911-940A-BBA68FE32E59}"/>
              </a:ext>
            </a:extLst>
          </p:cNvPr>
          <p:cNvSpPr txBox="1"/>
          <p:nvPr/>
        </p:nvSpPr>
        <p:spPr>
          <a:xfrm>
            <a:off x="190832" y="924137"/>
            <a:ext cx="4961614" cy="892552"/>
          </a:xfrm>
          <a:prstGeom prst="rect">
            <a:avLst/>
          </a:prstGeom>
          <a:noFill/>
        </p:spPr>
        <p:txBody>
          <a:bodyPr wrap="square" rtlCol="0">
            <a:spAutoFit/>
          </a:bodyPr>
          <a:lstStyle/>
          <a:p>
            <a:r>
              <a:rPr lang="en-GB" sz="1600"/>
              <a:t>Security</a:t>
            </a:r>
          </a:p>
          <a:p>
            <a:pPr marL="171450" indent="-171450">
              <a:buFont typeface="Arial" panose="020B0604020202020204" pitchFamily="34" charset="0"/>
              <a:buChar char="•"/>
            </a:pPr>
            <a:r>
              <a:rPr lang="en-GB" sz="1200"/>
              <a:t>Password hashing (bcrypt)</a:t>
            </a:r>
          </a:p>
          <a:p>
            <a:pPr marL="171450" indent="-171450">
              <a:buFont typeface="Arial" panose="020B0604020202020204" pitchFamily="34" charset="0"/>
              <a:buChar char="•"/>
            </a:pPr>
            <a:r>
              <a:rPr lang="en-GB" sz="1200"/>
              <a:t>CSRF &amp; SQL injection protection</a:t>
            </a:r>
          </a:p>
          <a:p>
            <a:pPr marL="171450" indent="-171450">
              <a:buFont typeface="Arial" panose="020B0604020202020204" pitchFamily="34" charset="0"/>
              <a:buChar char="•"/>
            </a:pPr>
            <a:r>
              <a:rPr lang="en-GB" sz="1200"/>
              <a:t>Secure sessions + lockout</a:t>
            </a:r>
          </a:p>
        </p:txBody>
      </p:sp>
      <p:sp>
        <p:nvSpPr>
          <p:cNvPr id="5" name="TextBox 4">
            <a:extLst>
              <a:ext uri="{FF2B5EF4-FFF2-40B4-BE49-F238E27FC236}">
                <a16:creationId xmlns:a16="http://schemas.microsoft.com/office/drawing/2014/main" id="{A7575382-B44B-E88B-1445-2020497B00C6}"/>
              </a:ext>
            </a:extLst>
          </p:cNvPr>
          <p:cNvSpPr txBox="1"/>
          <p:nvPr/>
        </p:nvSpPr>
        <p:spPr>
          <a:xfrm>
            <a:off x="190832" y="2371089"/>
            <a:ext cx="4754881" cy="892552"/>
          </a:xfrm>
          <a:prstGeom prst="rect">
            <a:avLst/>
          </a:prstGeom>
          <a:noFill/>
        </p:spPr>
        <p:txBody>
          <a:bodyPr wrap="square" rtlCol="0">
            <a:spAutoFit/>
          </a:bodyPr>
          <a:lstStyle/>
          <a:p>
            <a:r>
              <a:rPr lang="en-GB" sz="1600"/>
              <a:t>Core system Testing</a:t>
            </a:r>
          </a:p>
          <a:p>
            <a:pPr marL="285750" indent="-285750">
              <a:buFont typeface="Arial" panose="020B0604020202020204" pitchFamily="34" charset="0"/>
              <a:buChar char="•"/>
            </a:pPr>
            <a:r>
              <a:rPr lang="en-GB" sz="1200"/>
              <a:t>Authentication &amp; RBAC enforced</a:t>
            </a:r>
          </a:p>
          <a:p>
            <a:pPr marL="285750" indent="-285750">
              <a:buFont typeface="Arial" panose="020B0604020202020204" pitchFamily="34" charset="0"/>
              <a:buChar char="•"/>
            </a:pPr>
            <a:r>
              <a:rPr lang="en-GB" sz="1200"/>
              <a:t>Scan workflow validated</a:t>
            </a:r>
          </a:p>
          <a:p>
            <a:pPr marL="285750" indent="-285750">
              <a:buFont typeface="Arial" panose="020B0604020202020204" pitchFamily="34" charset="0"/>
              <a:buChar char="•"/>
            </a:pPr>
            <a:r>
              <a:rPr lang="en-GB" sz="1200"/>
              <a:t>Ticket lifecycle verified</a:t>
            </a:r>
          </a:p>
        </p:txBody>
      </p:sp>
      <p:sp>
        <p:nvSpPr>
          <p:cNvPr id="6" name="TextBox 5">
            <a:extLst>
              <a:ext uri="{FF2B5EF4-FFF2-40B4-BE49-F238E27FC236}">
                <a16:creationId xmlns:a16="http://schemas.microsoft.com/office/drawing/2014/main" id="{4A6B55BB-B18E-17B0-35AD-AAE1C75CB495}"/>
              </a:ext>
            </a:extLst>
          </p:cNvPr>
          <p:cNvSpPr txBox="1"/>
          <p:nvPr/>
        </p:nvSpPr>
        <p:spPr>
          <a:xfrm>
            <a:off x="190832" y="3681455"/>
            <a:ext cx="3983604" cy="892552"/>
          </a:xfrm>
          <a:prstGeom prst="rect">
            <a:avLst/>
          </a:prstGeom>
          <a:noFill/>
        </p:spPr>
        <p:txBody>
          <a:bodyPr wrap="square" rtlCol="0">
            <a:spAutoFit/>
          </a:bodyPr>
          <a:lstStyle/>
          <a:p>
            <a:r>
              <a:rPr lang="en-GB" sz="1600"/>
              <a:t>Automation</a:t>
            </a:r>
          </a:p>
          <a:p>
            <a:pPr marL="171450" indent="-171450">
              <a:buFont typeface="Arial" panose="020B0604020202020204" pitchFamily="34" charset="0"/>
              <a:buChar char="•"/>
            </a:pPr>
            <a:r>
              <a:rPr lang="en-GB" sz="1200"/>
              <a:t>Background worker executes scans</a:t>
            </a:r>
          </a:p>
          <a:p>
            <a:pPr marL="171450" indent="-171450">
              <a:buFont typeface="Arial" panose="020B0604020202020204" pitchFamily="34" charset="0"/>
              <a:buChar char="•"/>
            </a:pPr>
            <a:r>
              <a:rPr lang="en-GB" sz="1200"/>
              <a:t>Findings              Tickets automatically</a:t>
            </a:r>
          </a:p>
          <a:p>
            <a:pPr marL="171450" indent="-171450">
              <a:buFont typeface="Arial" panose="020B0604020202020204" pitchFamily="34" charset="0"/>
              <a:buChar char="•"/>
            </a:pPr>
            <a:r>
              <a:rPr lang="en-GB" sz="1200"/>
              <a:t>Auto-remediation (ticket closure)</a:t>
            </a:r>
          </a:p>
        </p:txBody>
      </p:sp>
      <p:cxnSp>
        <p:nvCxnSpPr>
          <p:cNvPr id="8" name="Straight Arrow Connector 7">
            <a:extLst>
              <a:ext uri="{FF2B5EF4-FFF2-40B4-BE49-F238E27FC236}">
                <a16:creationId xmlns:a16="http://schemas.microsoft.com/office/drawing/2014/main" id="{6FE59953-E012-66B4-3801-4444853BE952}"/>
              </a:ext>
            </a:extLst>
          </p:cNvPr>
          <p:cNvCxnSpPr/>
          <p:nvPr/>
        </p:nvCxnSpPr>
        <p:spPr>
          <a:xfrm>
            <a:off x="1152939" y="4253948"/>
            <a:ext cx="4134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DBA130C0-A4C0-BFFA-CA60-E11DC933CD15}"/>
              </a:ext>
            </a:extLst>
          </p:cNvPr>
          <p:cNvSpPr txBox="1"/>
          <p:nvPr/>
        </p:nvSpPr>
        <p:spPr>
          <a:xfrm>
            <a:off x="6867276" y="924137"/>
            <a:ext cx="3609892" cy="892552"/>
          </a:xfrm>
          <a:prstGeom prst="rect">
            <a:avLst/>
          </a:prstGeom>
          <a:noFill/>
        </p:spPr>
        <p:txBody>
          <a:bodyPr wrap="square" rtlCol="0">
            <a:spAutoFit/>
          </a:bodyPr>
          <a:lstStyle/>
          <a:p>
            <a:r>
              <a:rPr lang="en-GB" sz="1600"/>
              <a:t>Audit logging</a:t>
            </a:r>
          </a:p>
          <a:p>
            <a:pPr marL="171450" indent="-171450">
              <a:buFont typeface="Arial" panose="020B0604020202020204" pitchFamily="34" charset="0"/>
              <a:buChar char="•"/>
            </a:pPr>
            <a:r>
              <a:rPr lang="en-GB" sz="1200"/>
              <a:t>Login, scans, ticket fully logged</a:t>
            </a:r>
          </a:p>
          <a:p>
            <a:pPr marL="171450" indent="-171450">
              <a:buFont typeface="Arial" panose="020B0604020202020204" pitchFamily="34" charset="0"/>
              <a:buChar char="•"/>
            </a:pPr>
            <a:r>
              <a:rPr lang="en-GB" sz="1200"/>
              <a:t>Verified user attribution</a:t>
            </a:r>
          </a:p>
          <a:p>
            <a:pPr marL="171450" indent="-171450">
              <a:buFont typeface="Arial" panose="020B0604020202020204" pitchFamily="34" charset="0"/>
              <a:buChar char="•"/>
            </a:pPr>
            <a:r>
              <a:rPr lang="en-GB" sz="1200"/>
              <a:t>No sensitive data stored</a:t>
            </a:r>
          </a:p>
        </p:txBody>
      </p:sp>
      <p:sp>
        <p:nvSpPr>
          <p:cNvPr id="12" name="TextBox 11">
            <a:extLst>
              <a:ext uri="{FF2B5EF4-FFF2-40B4-BE49-F238E27FC236}">
                <a16:creationId xmlns:a16="http://schemas.microsoft.com/office/drawing/2014/main" id="{59782923-48C4-0A90-1461-878F9851ADF9}"/>
              </a:ext>
            </a:extLst>
          </p:cNvPr>
          <p:cNvSpPr txBox="1"/>
          <p:nvPr/>
        </p:nvSpPr>
        <p:spPr>
          <a:xfrm>
            <a:off x="6867276" y="2234317"/>
            <a:ext cx="3538330" cy="892552"/>
          </a:xfrm>
          <a:prstGeom prst="rect">
            <a:avLst/>
          </a:prstGeom>
          <a:noFill/>
        </p:spPr>
        <p:txBody>
          <a:bodyPr wrap="square" rtlCol="0">
            <a:spAutoFit/>
          </a:bodyPr>
          <a:lstStyle/>
          <a:p>
            <a:r>
              <a:rPr lang="en-GB" sz="1600"/>
              <a:t>Reliability</a:t>
            </a:r>
          </a:p>
          <a:p>
            <a:pPr marL="171450" indent="-171450">
              <a:buFont typeface="Arial" panose="020B0604020202020204" pitchFamily="34" charset="0"/>
              <a:buChar char="•"/>
            </a:pPr>
            <a:r>
              <a:rPr lang="en-GB" sz="1200"/>
              <a:t>Edge cases handled</a:t>
            </a:r>
          </a:p>
          <a:p>
            <a:pPr marL="171450" indent="-171450">
              <a:buFont typeface="Arial" panose="020B0604020202020204" pitchFamily="34" charset="0"/>
              <a:buChar char="•"/>
            </a:pPr>
            <a:r>
              <a:rPr lang="en-GB" sz="1200"/>
              <a:t>Concurrent actions tested </a:t>
            </a:r>
          </a:p>
          <a:p>
            <a:pPr marL="171450" indent="-171450">
              <a:buFont typeface="Arial" panose="020B0604020202020204" pitchFamily="34" charset="0"/>
              <a:buChar char="•"/>
            </a:pPr>
            <a:r>
              <a:rPr lang="en-GB" sz="1200"/>
              <a:t>HTTPS enforced</a:t>
            </a:r>
          </a:p>
        </p:txBody>
      </p:sp>
    </p:spTree>
    <p:extLst>
      <p:ext uri="{BB962C8B-B14F-4D97-AF65-F5344CB8AC3E}">
        <p14:creationId xmlns:p14="http://schemas.microsoft.com/office/powerpoint/2010/main" val="1998650892"/>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8527F86-BCF5-E4E1-5F8B-6D987F7D9B09}"/>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9702F4C-9063-37AB-E316-C1BD995C4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99965D92-17FD-D000-2B0F-0779217DE8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Network Technology Background">
            <a:extLst>
              <a:ext uri="{FF2B5EF4-FFF2-40B4-BE49-F238E27FC236}">
                <a16:creationId xmlns:a16="http://schemas.microsoft.com/office/drawing/2014/main" id="{B34321A8-2EBE-76C4-A068-7DA08C315D77}"/>
              </a:ext>
            </a:extLst>
          </p:cNvPr>
          <p:cNvPicPr>
            <a:picLocks noChangeAspect="1"/>
          </p:cNvPicPr>
          <p:nvPr/>
        </p:nvPicPr>
        <p:blipFill>
          <a:blip r:embed="rId2">
            <a:alphaModFix amt="60000"/>
            <a:extLst>
              <a:ext uri="{BEBA8EAE-BF5A-486C-A8C5-ECC9F3942E4B}">
                <a14:imgProps xmlns:a14="http://schemas.microsoft.com/office/drawing/2010/main">
                  <a14:imgLayer r:embed="rId3">
                    <a14:imgEffect>
                      <a14:artisticBlur/>
                    </a14:imgEffect>
                  </a14:imgLayer>
                </a14:imgProps>
              </a:ext>
            </a:extLst>
          </a:blip>
          <a:srcRect b="3433"/>
          <a:stretch/>
        </p:blipFill>
        <p:spPr>
          <a:xfrm>
            <a:off x="0" y="1"/>
            <a:ext cx="12192000" cy="6857999"/>
          </a:xfrm>
          <a:prstGeom prst="rect">
            <a:avLst/>
          </a:prstGeom>
          <a:solidFill>
            <a:schemeClr val="bg1"/>
          </a:solidFill>
          <a:effectLst>
            <a:glow>
              <a:schemeClr val="bg1"/>
            </a:glow>
            <a:outerShdw blurRad="50800" dist="50800" dir="5400000" sx="1000" sy="1000" algn="ctr" rotWithShape="0">
              <a:srgbClr val="000000">
                <a:alpha val="41000"/>
              </a:srgbClr>
            </a:outerShdw>
          </a:effectLst>
        </p:spPr>
      </p:pic>
      <p:sp>
        <p:nvSpPr>
          <p:cNvPr id="14" name="Title 13">
            <a:extLst>
              <a:ext uri="{FF2B5EF4-FFF2-40B4-BE49-F238E27FC236}">
                <a16:creationId xmlns:a16="http://schemas.microsoft.com/office/drawing/2014/main" id="{0D6DE5C0-26B6-41F6-E093-87A2B5DCB6E4}"/>
              </a:ext>
            </a:extLst>
          </p:cNvPr>
          <p:cNvSpPr>
            <a:spLocks noGrp="1"/>
          </p:cNvSpPr>
          <p:nvPr>
            <p:ph type="ctrTitle"/>
          </p:nvPr>
        </p:nvSpPr>
        <p:spPr>
          <a:xfrm>
            <a:off x="2301921" y="59750"/>
            <a:ext cx="7588155" cy="697010"/>
          </a:xfrm>
        </p:spPr>
        <p:txBody>
          <a:bodyPr>
            <a:normAutofit/>
          </a:bodyPr>
          <a:lstStyle/>
          <a:p>
            <a:r>
              <a:rPr lang="en-GB" sz="3200" b="0"/>
              <a:t>Team Contributions</a:t>
            </a:r>
          </a:p>
        </p:txBody>
      </p:sp>
      <p:graphicFrame>
        <p:nvGraphicFramePr>
          <p:cNvPr id="3" name="Table 2">
            <a:extLst>
              <a:ext uri="{FF2B5EF4-FFF2-40B4-BE49-F238E27FC236}">
                <a16:creationId xmlns:a16="http://schemas.microsoft.com/office/drawing/2014/main" id="{D4B46C39-DB33-E9F7-1E5C-4F9C8CC26BFD}"/>
              </a:ext>
            </a:extLst>
          </p:cNvPr>
          <p:cNvGraphicFramePr>
            <a:graphicFrameLocks noGrp="1"/>
          </p:cNvGraphicFramePr>
          <p:nvPr>
            <p:extLst>
              <p:ext uri="{D42A27DB-BD31-4B8C-83A1-F6EECF244321}">
                <p14:modId xmlns:p14="http://schemas.microsoft.com/office/powerpoint/2010/main" val="3618520700"/>
              </p:ext>
            </p:extLst>
          </p:nvPr>
        </p:nvGraphicFramePr>
        <p:xfrm>
          <a:off x="210149" y="816509"/>
          <a:ext cx="11771698" cy="4228466"/>
        </p:xfrm>
        <a:graphic>
          <a:graphicData uri="http://schemas.openxmlformats.org/drawingml/2006/table">
            <a:tbl>
              <a:tblPr firstRow="1" firstCol="1" bandRow="1">
                <a:tableStyleId>{073A0DAA-6AF3-43AB-8588-CEC1D06C72B9}</a:tableStyleId>
              </a:tblPr>
              <a:tblGrid>
                <a:gridCol w="2533051">
                  <a:extLst>
                    <a:ext uri="{9D8B030D-6E8A-4147-A177-3AD203B41FA5}">
                      <a16:colId xmlns:a16="http://schemas.microsoft.com/office/drawing/2014/main" val="1777850225"/>
                    </a:ext>
                  </a:extLst>
                </a:gridCol>
                <a:gridCol w="3936733">
                  <a:extLst>
                    <a:ext uri="{9D8B030D-6E8A-4147-A177-3AD203B41FA5}">
                      <a16:colId xmlns:a16="http://schemas.microsoft.com/office/drawing/2014/main" val="3307009004"/>
                    </a:ext>
                  </a:extLst>
                </a:gridCol>
                <a:gridCol w="5301914">
                  <a:extLst>
                    <a:ext uri="{9D8B030D-6E8A-4147-A177-3AD203B41FA5}">
                      <a16:colId xmlns:a16="http://schemas.microsoft.com/office/drawing/2014/main" val="570631538"/>
                    </a:ext>
                  </a:extLst>
                </a:gridCol>
              </a:tblGrid>
              <a:tr h="280053">
                <a:tc gridSpan="2">
                  <a:txBody>
                    <a:bodyPr/>
                    <a:lstStyle/>
                    <a:p>
                      <a:pPr algn="ctr">
                        <a:lnSpc>
                          <a:spcPct val="107000"/>
                        </a:lnSpc>
                        <a:spcAft>
                          <a:spcPts val="800"/>
                        </a:spcAft>
                        <a:buNone/>
                      </a:pPr>
                      <a:r>
                        <a:rPr lang="en-GB" sz="1800" kern="100">
                          <a:effectLst/>
                        </a:rPr>
                        <a:t>Team Member</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hMerge="1">
                  <a:txBody>
                    <a:bodyPr/>
                    <a:lstStyle/>
                    <a:p>
                      <a:endParaRPr lang="en-GB"/>
                    </a:p>
                  </a:txBody>
                  <a:tcPr/>
                </a:tc>
                <a:tc>
                  <a:txBody>
                    <a:bodyPr/>
                    <a:lstStyle/>
                    <a:p>
                      <a:pPr algn="ctr">
                        <a:lnSpc>
                          <a:spcPct val="107000"/>
                        </a:lnSpc>
                        <a:spcAft>
                          <a:spcPts val="800"/>
                        </a:spcAft>
                        <a:buNone/>
                      </a:pPr>
                      <a:r>
                        <a:rPr lang="en-GB" sz="1800" kern="100">
                          <a:effectLst/>
                          <a:latin typeface="Aptos" panose="020B0004020202020204" pitchFamily="34" charset="0"/>
                          <a:ea typeface="Aptos" panose="020B0004020202020204" pitchFamily="34" charset="0"/>
                          <a:cs typeface="Times New Roman" panose="02020603050405020304" pitchFamily="18" charset="0"/>
                        </a:rPr>
                        <a:t>Contribution</a:t>
                      </a:r>
                    </a:p>
                  </a:txBody>
                  <a:tcPr marL="68580" marR="68580" marT="0" marB="0"/>
                </a:tc>
                <a:extLst>
                  <a:ext uri="{0D108BD9-81ED-4DB2-BD59-A6C34878D82A}">
                    <a16:rowId xmlns:a16="http://schemas.microsoft.com/office/drawing/2014/main" val="3099371975"/>
                  </a:ext>
                </a:extLst>
              </a:tr>
              <a:tr h="280053">
                <a:tc>
                  <a:txBody>
                    <a:bodyPr/>
                    <a:lstStyle/>
                    <a:p>
                      <a:pPr>
                        <a:lnSpc>
                          <a:spcPct val="107000"/>
                        </a:lnSpc>
                        <a:spcAft>
                          <a:spcPts val="800"/>
                        </a:spcAft>
                        <a:buNone/>
                      </a:pPr>
                      <a:r>
                        <a:rPr lang="en-GB" sz="1800" kern="100" dirty="0">
                          <a:effectLst/>
                        </a:rPr>
                        <a:t>Team Member 1</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GB" sz="1800" kern="100">
                          <a:effectLst/>
                        </a:rPr>
                        <a:t>Database Administrator/Generalist</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GB" sz="1800" kern="100">
                          <a:effectLst/>
                          <a:latin typeface="Aptos" panose="020B0004020202020204" pitchFamily="34" charset="0"/>
                          <a:ea typeface="Aptos" panose="020B0004020202020204" pitchFamily="34" charset="0"/>
                          <a:cs typeface="Times New Roman" panose="02020603050405020304" pitchFamily="18" charset="0"/>
                        </a:rPr>
                        <a:t>Database design, schema implementation and compliance documentation</a:t>
                      </a:r>
                    </a:p>
                  </a:txBody>
                  <a:tcPr marL="68580" marR="68580" marT="0" marB="0"/>
                </a:tc>
                <a:extLst>
                  <a:ext uri="{0D108BD9-81ED-4DB2-BD59-A6C34878D82A}">
                    <a16:rowId xmlns:a16="http://schemas.microsoft.com/office/drawing/2014/main" val="991076733"/>
                  </a:ext>
                </a:extLst>
              </a:tr>
              <a:tr h="604211">
                <a:tc>
                  <a:txBody>
                    <a:bodyPr/>
                    <a:lstStyle/>
                    <a:p>
                      <a:pPr>
                        <a:lnSpc>
                          <a:spcPct val="115000"/>
                        </a:lnSpc>
                        <a:spcAft>
                          <a:spcPts val="800"/>
                        </a:spcAft>
                        <a:buNone/>
                      </a:pPr>
                      <a:r>
                        <a:rPr lang="en-GB" sz="1800" kern="100" dirty="0">
                          <a:effectLst/>
                        </a:rPr>
                        <a:t>Daniel Legg</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800" kern="100">
                          <a:effectLst/>
                        </a:rPr>
                        <a:t>Full Stack Developer</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lang="en-GB" sz="1800" kern="100">
                          <a:effectLst/>
                          <a:latin typeface="Aptos" panose="020B0004020202020204" pitchFamily="34" charset="0"/>
                          <a:ea typeface="Aptos" panose="020B0004020202020204" pitchFamily="34" charset="0"/>
                          <a:cs typeface="Times New Roman" panose="02020603050405020304" pitchFamily="18" charset="0"/>
                        </a:rPr>
                        <a:t>Led development of core system functionality, backend service and scanning workflows</a:t>
                      </a:r>
                    </a:p>
                  </a:txBody>
                  <a:tcPr marL="68580" marR="68580" marT="0" marB="0"/>
                </a:tc>
                <a:extLst>
                  <a:ext uri="{0D108BD9-81ED-4DB2-BD59-A6C34878D82A}">
                    <a16:rowId xmlns:a16="http://schemas.microsoft.com/office/drawing/2014/main" val="1256554019"/>
                  </a:ext>
                </a:extLst>
              </a:tr>
              <a:tr h="296378">
                <a:tc>
                  <a:txBody>
                    <a:bodyPr/>
                    <a:lstStyle/>
                    <a:p>
                      <a:pPr>
                        <a:lnSpc>
                          <a:spcPct val="115000"/>
                        </a:lnSpc>
                        <a:spcAft>
                          <a:spcPts val="800"/>
                        </a:spcAft>
                        <a:buNone/>
                      </a:pPr>
                      <a:r>
                        <a:rPr lang="en-GB" sz="1800" kern="100" dirty="0">
                          <a:effectLst/>
                        </a:rPr>
                        <a:t>Team Member 3</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800" kern="100">
                          <a:effectLst/>
                        </a:rPr>
                        <a:t>Software Tester</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800" kern="100">
                          <a:effectLst/>
                          <a:latin typeface="Aptos" panose="020B0004020202020204" pitchFamily="34" charset="0"/>
                          <a:ea typeface="Aptos" panose="020B0004020202020204" pitchFamily="34" charset="0"/>
                          <a:cs typeface="Times New Roman" panose="02020603050405020304" pitchFamily="18" charset="0"/>
                        </a:rPr>
                        <a:t>Testing, bug reporting and quality assurance</a:t>
                      </a:r>
                    </a:p>
                    <a:p>
                      <a:pPr>
                        <a:lnSpc>
                          <a:spcPct val="115000"/>
                        </a:lnSpc>
                        <a:spcAft>
                          <a:spcPts val="800"/>
                        </a:spcAft>
                        <a:buNone/>
                      </a:pP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92916033"/>
                  </a:ext>
                </a:extLst>
              </a:tr>
              <a:tr h="280053">
                <a:tc>
                  <a:txBody>
                    <a:bodyPr/>
                    <a:lstStyle/>
                    <a:p>
                      <a:pPr>
                        <a:lnSpc>
                          <a:spcPct val="107000"/>
                        </a:lnSpc>
                        <a:spcAft>
                          <a:spcPts val="800"/>
                        </a:spcAft>
                        <a:buNone/>
                      </a:pPr>
                      <a:r>
                        <a:rPr lang="en-GB" sz="1800" kern="100" dirty="0">
                          <a:effectLst/>
                        </a:rPr>
                        <a:t>Team Member 4</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GB" sz="1800" kern="100">
                          <a:effectLst/>
                        </a:rPr>
                        <a:t>Backend Developer</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GB" sz="1800" kern="100">
                          <a:effectLst/>
                          <a:latin typeface="Aptos" panose="020B0004020202020204" pitchFamily="34" charset="0"/>
                          <a:ea typeface="Aptos" panose="020B0004020202020204" pitchFamily="34" charset="0"/>
                          <a:cs typeface="Times New Roman" panose="02020603050405020304" pitchFamily="18" charset="0"/>
                        </a:rPr>
                        <a:t>Backend development and system design</a:t>
                      </a:r>
                    </a:p>
                    <a:p>
                      <a:pPr>
                        <a:lnSpc>
                          <a:spcPct val="107000"/>
                        </a:lnSpc>
                        <a:spcAft>
                          <a:spcPts val="800"/>
                        </a:spcAft>
                        <a:buNone/>
                      </a:pP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91563706"/>
                  </a:ext>
                </a:extLst>
              </a:tr>
              <a:tr h="280053">
                <a:tc>
                  <a:txBody>
                    <a:bodyPr/>
                    <a:lstStyle/>
                    <a:p>
                      <a:pPr>
                        <a:lnSpc>
                          <a:spcPct val="107000"/>
                        </a:lnSpc>
                        <a:spcAft>
                          <a:spcPts val="800"/>
                        </a:spcAft>
                        <a:buNone/>
                      </a:pPr>
                      <a:r>
                        <a:rPr lang="en-GB" sz="1800" kern="100" dirty="0">
                          <a:effectLst/>
                        </a:rPr>
                        <a:t>Team Member 5</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GB" sz="1800" kern="100">
                          <a:effectLst/>
                        </a:rPr>
                        <a:t>Server Administrator/Generalist</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GB" sz="1800" kern="100">
                          <a:effectLst/>
                          <a:latin typeface="Aptos" panose="020B0004020202020204" pitchFamily="34" charset="0"/>
                          <a:ea typeface="Aptos" panose="020B0004020202020204" pitchFamily="34" charset="0"/>
                          <a:cs typeface="Times New Roman" panose="02020603050405020304" pitchFamily="18" charset="0"/>
                        </a:rPr>
                        <a:t>Server infrastructure, deployment and evaluation</a:t>
                      </a:r>
                    </a:p>
                    <a:p>
                      <a:pPr>
                        <a:lnSpc>
                          <a:spcPct val="107000"/>
                        </a:lnSpc>
                        <a:spcAft>
                          <a:spcPts val="800"/>
                        </a:spcAft>
                        <a:buNone/>
                      </a:pP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89365435"/>
                  </a:ext>
                </a:extLst>
              </a:tr>
              <a:tr h="280053">
                <a:tc>
                  <a:txBody>
                    <a:bodyPr/>
                    <a:lstStyle/>
                    <a:p>
                      <a:pPr>
                        <a:lnSpc>
                          <a:spcPct val="107000"/>
                        </a:lnSpc>
                        <a:spcAft>
                          <a:spcPts val="800"/>
                        </a:spcAft>
                        <a:buNone/>
                      </a:pPr>
                      <a:r>
                        <a:rPr lang="en-GB" sz="1800" kern="100" dirty="0">
                          <a:effectLst/>
                        </a:rPr>
                        <a:t>Team Member 6</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GB" sz="1800" kern="100">
                          <a:effectLst/>
                        </a:rPr>
                        <a:t>Flexible Support</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Limited Contribution</a:t>
                      </a:r>
                    </a:p>
                    <a:p>
                      <a:pPr>
                        <a:lnSpc>
                          <a:spcPct val="107000"/>
                        </a:lnSpc>
                        <a:spcAft>
                          <a:spcPts val="800"/>
                        </a:spcAft>
                        <a:buNone/>
                      </a:pP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88600709"/>
                  </a:ext>
                </a:extLst>
              </a:tr>
            </a:tbl>
          </a:graphicData>
        </a:graphic>
      </p:graphicFrame>
    </p:spTree>
    <p:extLst>
      <p:ext uri="{BB962C8B-B14F-4D97-AF65-F5344CB8AC3E}">
        <p14:creationId xmlns:p14="http://schemas.microsoft.com/office/powerpoint/2010/main" val="2873649604"/>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2CC8220-CB11-A73D-BD07-E7F2D6000B31}"/>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87F34E5-26A2-BB5D-9FDA-74887F40B6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333E18CD-F0B5-7058-3CF3-203EA0F27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Network Technology Background">
            <a:extLst>
              <a:ext uri="{FF2B5EF4-FFF2-40B4-BE49-F238E27FC236}">
                <a16:creationId xmlns:a16="http://schemas.microsoft.com/office/drawing/2014/main" id="{4DDD4EF4-C612-258E-2889-C6FBFD328037}"/>
              </a:ext>
            </a:extLst>
          </p:cNvPr>
          <p:cNvPicPr>
            <a:picLocks noChangeAspect="1"/>
          </p:cNvPicPr>
          <p:nvPr/>
        </p:nvPicPr>
        <p:blipFill>
          <a:blip r:embed="rId2">
            <a:alphaModFix amt="60000"/>
            <a:extLst>
              <a:ext uri="{BEBA8EAE-BF5A-486C-A8C5-ECC9F3942E4B}">
                <a14:imgProps xmlns:a14="http://schemas.microsoft.com/office/drawing/2010/main">
                  <a14:imgLayer r:embed="rId3">
                    <a14:imgEffect>
                      <a14:artisticBlur/>
                    </a14:imgEffect>
                  </a14:imgLayer>
                </a14:imgProps>
              </a:ext>
            </a:extLst>
          </a:blip>
          <a:srcRect b="3433"/>
          <a:stretch/>
        </p:blipFill>
        <p:spPr>
          <a:xfrm>
            <a:off x="0" y="1"/>
            <a:ext cx="12192000" cy="6857999"/>
          </a:xfrm>
          <a:prstGeom prst="rect">
            <a:avLst/>
          </a:prstGeom>
          <a:solidFill>
            <a:schemeClr val="bg1"/>
          </a:solidFill>
          <a:effectLst>
            <a:glow>
              <a:schemeClr val="bg1"/>
            </a:glow>
            <a:outerShdw blurRad="50800" dist="50800" dir="5400000" sx="1000" sy="1000" algn="ctr" rotWithShape="0">
              <a:srgbClr val="000000">
                <a:alpha val="41000"/>
              </a:srgbClr>
            </a:outerShdw>
          </a:effectLst>
        </p:spPr>
      </p:pic>
      <p:sp>
        <p:nvSpPr>
          <p:cNvPr id="14" name="Title 13">
            <a:extLst>
              <a:ext uri="{FF2B5EF4-FFF2-40B4-BE49-F238E27FC236}">
                <a16:creationId xmlns:a16="http://schemas.microsoft.com/office/drawing/2014/main" id="{A51E6C10-0A4D-C2DC-0A86-2C71486BA602}"/>
              </a:ext>
            </a:extLst>
          </p:cNvPr>
          <p:cNvSpPr>
            <a:spLocks noGrp="1"/>
          </p:cNvSpPr>
          <p:nvPr>
            <p:ph type="ctrTitle"/>
          </p:nvPr>
        </p:nvSpPr>
        <p:spPr>
          <a:xfrm>
            <a:off x="2301921" y="59750"/>
            <a:ext cx="7588155" cy="697010"/>
          </a:xfrm>
        </p:spPr>
        <p:txBody>
          <a:bodyPr>
            <a:normAutofit/>
          </a:bodyPr>
          <a:lstStyle/>
          <a:p>
            <a:r>
              <a:rPr lang="en-GB" sz="3200" b="0"/>
              <a:t>Compliance</a:t>
            </a:r>
          </a:p>
        </p:txBody>
      </p:sp>
      <p:sp>
        <p:nvSpPr>
          <p:cNvPr id="3" name="TextBox 2">
            <a:extLst>
              <a:ext uri="{FF2B5EF4-FFF2-40B4-BE49-F238E27FC236}">
                <a16:creationId xmlns:a16="http://schemas.microsoft.com/office/drawing/2014/main" id="{9C103FA1-7334-7E27-7BFA-5676EDB8FE95}"/>
              </a:ext>
            </a:extLst>
          </p:cNvPr>
          <p:cNvSpPr txBox="1"/>
          <p:nvPr/>
        </p:nvSpPr>
        <p:spPr>
          <a:xfrm>
            <a:off x="404602" y="930584"/>
            <a:ext cx="10422542" cy="5078313"/>
          </a:xfrm>
          <a:prstGeom prst="rect">
            <a:avLst/>
          </a:prstGeom>
          <a:noFill/>
        </p:spPr>
        <p:txBody>
          <a:bodyPr wrap="square" rtlCol="0">
            <a:spAutoFit/>
          </a:bodyPr>
          <a:lstStyle/>
          <a:p>
            <a:r>
              <a:rPr lang="en-GB" dirty="0"/>
              <a:t>Organisations are faced with many challenges, in the current changing climate, associated with security, legislation and industry disruption. Compliance with legislation and certified governance protocols, Risk Forge can ensure a high level of security and service to clients. This will be enforced by creating internal procedures that help align the solution with compliance and regularly auditing. </a:t>
            </a:r>
          </a:p>
          <a:p>
            <a:endParaRPr lang="en-GB" dirty="0"/>
          </a:p>
          <a:p>
            <a:r>
              <a:rPr lang="en-GB" dirty="0"/>
              <a:t>Risk Forge will comply with many legislations and compliance boards, but a few will be mentioned below. </a:t>
            </a:r>
          </a:p>
          <a:p>
            <a:pPr marL="285750" indent="-285750">
              <a:buFont typeface="Arial" panose="020B0604020202020204" pitchFamily="34" charset="0"/>
              <a:buChar char="•"/>
            </a:pPr>
            <a:r>
              <a:rPr lang="en-GB" dirty="0"/>
              <a:t>BSC code of conduct </a:t>
            </a:r>
          </a:p>
          <a:p>
            <a:pPr marL="285750" indent="-285750">
              <a:buFont typeface="Arial" panose="020B0604020202020204" pitchFamily="34" charset="0"/>
              <a:buChar char="•"/>
            </a:pPr>
            <a:r>
              <a:rPr lang="en-GB" dirty="0"/>
              <a:t>GDPR</a:t>
            </a:r>
          </a:p>
          <a:p>
            <a:pPr marL="285750" indent="-285750">
              <a:buFont typeface="Arial" panose="020B0604020202020204" pitchFamily="34" charset="0"/>
              <a:buChar char="•"/>
            </a:pPr>
            <a:r>
              <a:rPr lang="en-GB" dirty="0"/>
              <a:t>ICO</a:t>
            </a:r>
          </a:p>
          <a:p>
            <a:pPr marL="285750" indent="-285750">
              <a:buFont typeface="Arial" panose="020B0604020202020204" pitchFamily="34" charset="0"/>
              <a:buChar char="•"/>
            </a:pPr>
            <a:r>
              <a:rPr lang="en-GB" dirty="0"/>
              <a:t>Cyber governance code of practise </a:t>
            </a:r>
          </a:p>
          <a:p>
            <a:pPr marL="285750" indent="-285750">
              <a:buFont typeface="Arial" panose="020B0604020202020204" pitchFamily="34" charset="0"/>
              <a:buChar char="•"/>
            </a:pPr>
            <a:r>
              <a:rPr lang="en-GB" dirty="0"/>
              <a:t>ISO standard for security management </a:t>
            </a:r>
          </a:p>
          <a:p>
            <a:pPr marL="285750" indent="-285750">
              <a:buFont typeface="Arial" panose="020B0604020202020204" pitchFamily="34" charset="0"/>
              <a:buChar char="•"/>
            </a:pPr>
            <a:endParaRPr lang="en-GB" dirty="0"/>
          </a:p>
          <a:p>
            <a:r>
              <a:rPr lang="en-GB" dirty="0"/>
              <a:t>By complying with the above, Risk Forge will also have a securer relationship with clients. Ethically,  Risk Forge should have clear communication with clients and be completely transparent with the services. </a:t>
            </a:r>
          </a:p>
          <a:p>
            <a:pPr marL="285750" indent="-285750">
              <a:buFont typeface="Arial" panose="020B0604020202020204" pitchFamily="34" charset="0"/>
              <a:buChar char="•"/>
            </a:pPr>
            <a:endParaRPr lang="en-GB" dirty="0"/>
          </a:p>
        </p:txBody>
      </p:sp>
    </p:spTree>
    <p:extLst>
      <p:ext uri="{BB962C8B-B14F-4D97-AF65-F5344CB8AC3E}">
        <p14:creationId xmlns:p14="http://schemas.microsoft.com/office/powerpoint/2010/main" val="3546424692"/>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F32D75-3367-D475-A827-23EB0B37DE6F}"/>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A462113-05B2-A851-EED5-EAD7BC3C9F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6602ECBD-925A-B6DB-0CDD-AFD121632A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Network Technology Background">
            <a:extLst>
              <a:ext uri="{FF2B5EF4-FFF2-40B4-BE49-F238E27FC236}">
                <a16:creationId xmlns:a16="http://schemas.microsoft.com/office/drawing/2014/main" id="{94AAC96E-594C-EB21-9BBA-33B814695430}"/>
              </a:ext>
            </a:extLst>
          </p:cNvPr>
          <p:cNvPicPr>
            <a:picLocks noChangeAspect="1"/>
          </p:cNvPicPr>
          <p:nvPr/>
        </p:nvPicPr>
        <p:blipFill>
          <a:blip r:embed="rId2">
            <a:alphaModFix amt="60000"/>
            <a:extLst>
              <a:ext uri="{BEBA8EAE-BF5A-486C-A8C5-ECC9F3942E4B}">
                <a14:imgProps xmlns:a14="http://schemas.microsoft.com/office/drawing/2010/main">
                  <a14:imgLayer r:embed="rId3">
                    <a14:imgEffect>
                      <a14:artisticBlur/>
                    </a14:imgEffect>
                  </a14:imgLayer>
                </a14:imgProps>
              </a:ext>
            </a:extLst>
          </a:blip>
          <a:srcRect b="3433"/>
          <a:stretch/>
        </p:blipFill>
        <p:spPr>
          <a:xfrm>
            <a:off x="0" y="1"/>
            <a:ext cx="12192000" cy="6857999"/>
          </a:xfrm>
          <a:prstGeom prst="rect">
            <a:avLst/>
          </a:prstGeom>
          <a:solidFill>
            <a:schemeClr val="bg1"/>
          </a:solidFill>
          <a:effectLst>
            <a:glow>
              <a:schemeClr val="bg1"/>
            </a:glow>
            <a:outerShdw blurRad="50800" dist="50800" dir="5400000" sx="1000" sy="1000" algn="ctr" rotWithShape="0">
              <a:srgbClr val="000000">
                <a:alpha val="41000"/>
              </a:srgbClr>
            </a:outerShdw>
          </a:effectLst>
        </p:spPr>
      </p:pic>
      <p:sp>
        <p:nvSpPr>
          <p:cNvPr id="14" name="Title 13">
            <a:extLst>
              <a:ext uri="{FF2B5EF4-FFF2-40B4-BE49-F238E27FC236}">
                <a16:creationId xmlns:a16="http://schemas.microsoft.com/office/drawing/2014/main" id="{6C547BC6-1CF7-1CE1-837B-602A7FAF887F}"/>
              </a:ext>
            </a:extLst>
          </p:cNvPr>
          <p:cNvSpPr>
            <a:spLocks noGrp="1"/>
          </p:cNvSpPr>
          <p:nvPr>
            <p:ph type="ctrTitle"/>
          </p:nvPr>
        </p:nvSpPr>
        <p:spPr>
          <a:xfrm>
            <a:off x="2301921" y="59750"/>
            <a:ext cx="7588155" cy="697010"/>
          </a:xfrm>
        </p:spPr>
        <p:txBody>
          <a:bodyPr>
            <a:normAutofit/>
          </a:bodyPr>
          <a:lstStyle/>
          <a:p>
            <a:r>
              <a:rPr lang="en-GB" sz="3200" b="0"/>
              <a:t>Future Work</a:t>
            </a:r>
          </a:p>
        </p:txBody>
      </p:sp>
      <p:sp>
        <p:nvSpPr>
          <p:cNvPr id="3" name="TextBox 2">
            <a:extLst>
              <a:ext uri="{FF2B5EF4-FFF2-40B4-BE49-F238E27FC236}">
                <a16:creationId xmlns:a16="http://schemas.microsoft.com/office/drawing/2014/main" id="{8BFF03A8-46CB-E1E2-F342-DE36F37E4AB8}"/>
              </a:ext>
            </a:extLst>
          </p:cNvPr>
          <p:cNvSpPr txBox="1"/>
          <p:nvPr/>
        </p:nvSpPr>
        <p:spPr>
          <a:xfrm>
            <a:off x="1147588" y="1126333"/>
            <a:ext cx="9632729"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As part of the further development of the </a:t>
            </a:r>
            <a:r>
              <a:rPr lang="en-US" err="1">
                <a:ea typeface="+mn-lt"/>
                <a:cs typeface="+mn-lt"/>
              </a:rPr>
              <a:t>RiskForge</a:t>
            </a:r>
            <a:r>
              <a:rPr lang="en-US">
                <a:ea typeface="+mn-lt"/>
                <a:cs typeface="+mn-lt"/>
              </a:rPr>
              <a:t> platform, the team has identified several priority areas. First, they plan to comprehensively strengthen security, including implementing protection against CSRF attacks and generally hardening the system to protect against web threats.</a:t>
            </a:r>
          </a:p>
          <a:p>
            <a:endParaRPr lang="en-US">
              <a:ea typeface="+mn-lt"/>
              <a:cs typeface="+mn-lt"/>
            </a:endParaRPr>
          </a:p>
          <a:p>
            <a:r>
              <a:rPr lang="en-US">
                <a:ea typeface="+mn-lt"/>
                <a:cs typeface="+mn-lt"/>
              </a:rPr>
              <a:t>Secondly, the team will continue to refine the risk assessment model to make vulnerability prioritization even more accurate and tailored to specific business contexts.</a:t>
            </a:r>
          </a:p>
          <a:p>
            <a:endParaRPr lang="en-US">
              <a:ea typeface="+mn-lt"/>
              <a:cs typeface="+mn-lt"/>
            </a:endParaRPr>
          </a:p>
          <a:p>
            <a:r>
              <a:rPr lang="en-US">
                <a:ea typeface="+mn-lt"/>
                <a:cs typeface="+mn-lt"/>
              </a:rPr>
              <a:t>Finally, an important step will be the expansion of AI's analytical capabilities and the development of a deep reporting module, which will automate the creation of detailed reports for audit and management.</a:t>
            </a:r>
          </a:p>
          <a:p>
            <a:endParaRPr lang="en-US"/>
          </a:p>
          <a:p>
            <a:r>
              <a:rPr lang="en-US">
                <a:ea typeface="+mn-lt"/>
                <a:cs typeface="+mn-lt"/>
              </a:rPr>
              <a:t>To ensure the platform's stable operation, redundancy mechanisms are planned. This involves duplicating critical system nodes and setting up automatic data backup. These measures will eliminate a single point of failure and ensure the system remains accessible even in the event of a technical failure on the primary server.</a:t>
            </a:r>
            <a:endParaRPr lang="en-US"/>
          </a:p>
        </p:txBody>
      </p:sp>
    </p:spTree>
    <p:extLst>
      <p:ext uri="{BB962C8B-B14F-4D97-AF65-F5344CB8AC3E}">
        <p14:creationId xmlns:p14="http://schemas.microsoft.com/office/powerpoint/2010/main" val="1965055687"/>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0538DB6-548F-825A-3DA8-3AE0F143DC80}"/>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F66D99F-6052-BAF2-CB6B-731E25334A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1E502632-3256-2791-1A35-E71B18E7BA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Network Technology Background">
            <a:extLst>
              <a:ext uri="{FF2B5EF4-FFF2-40B4-BE49-F238E27FC236}">
                <a16:creationId xmlns:a16="http://schemas.microsoft.com/office/drawing/2014/main" id="{FA2ACA27-6061-7D4B-D68C-0714F68F1F5D}"/>
              </a:ext>
            </a:extLst>
          </p:cNvPr>
          <p:cNvPicPr>
            <a:picLocks noChangeAspect="1"/>
          </p:cNvPicPr>
          <p:nvPr/>
        </p:nvPicPr>
        <p:blipFill>
          <a:blip r:embed="rId2">
            <a:alphaModFix amt="60000"/>
            <a:extLst>
              <a:ext uri="{BEBA8EAE-BF5A-486C-A8C5-ECC9F3942E4B}">
                <a14:imgProps xmlns:a14="http://schemas.microsoft.com/office/drawing/2010/main">
                  <a14:imgLayer r:embed="rId3">
                    <a14:imgEffect>
                      <a14:artisticBlur/>
                    </a14:imgEffect>
                  </a14:imgLayer>
                </a14:imgProps>
              </a:ext>
            </a:extLst>
          </a:blip>
          <a:srcRect b="3433"/>
          <a:stretch/>
        </p:blipFill>
        <p:spPr>
          <a:xfrm>
            <a:off x="0" y="1"/>
            <a:ext cx="12192000" cy="6857999"/>
          </a:xfrm>
          <a:prstGeom prst="rect">
            <a:avLst/>
          </a:prstGeom>
          <a:solidFill>
            <a:schemeClr val="bg1"/>
          </a:solidFill>
          <a:effectLst>
            <a:glow>
              <a:schemeClr val="bg1"/>
            </a:glow>
            <a:outerShdw blurRad="50800" dist="50800" dir="5400000" sx="1000" sy="1000" algn="ctr" rotWithShape="0">
              <a:srgbClr val="000000">
                <a:alpha val="41000"/>
              </a:srgbClr>
            </a:outerShdw>
          </a:effectLst>
        </p:spPr>
      </p:pic>
      <p:sp>
        <p:nvSpPr>
          <p:cNvPr id="14" name="Title 13">
            <a:extLst>
              <a:ext uri="{FF2B5EF4-FFF2-40B4-BE49-F238E27FC236}">
                <a16:creationId xmlns:a16="http://schemas.microsoft.com/office/drawing/2014/main" id="{CF333EDF-F67E-E97F-B7B9-7667412C349C}"/>
              </a:ext>
            </a:extLst>
          </p:cNvPr>
          <p:cNvSpPr>
            <a:spLocks noGrp="1"/>
          </p:cNvSpPr>
          <p:nvPr>
            <p:ph type="ctrTitle"/>
          </p:nvPr>
        </p:nvSpPr>
        <p:spPr>
          <a:xfrm>
            <a:off x="2301921" y="59750"/>
            <a:ext cx="7588155" cy="697010"/>
          </a:xfrm>
        </p:spPr>
        <p:txBody>
          <a:bodyPr>
            <a:normAutofit/>
          </a:bodyPr>
          <a:lstStyle/>
          <a:p>
            <a:r>
              <a:rPr lang="en-GB" sz="3200" b="0"/>
              <a:t>Conclusion</a:t>
            </a:r>
          </a:p>
        </p:txBody>
      </p:sp>
      <p:sp>
        <p:nvSpPr>
          <p:cNvPr id="2" name="TextBox 1">
            <a:extLst>
              <a:ext uri="{FF2B5EF4-FFF2-40B4-BE49-F238E27FC236}">
                <a16:creationId xmlns:a16="http://schemas.microsoft.com/office/drawing/2014/main" id="{53F8AEF6-D543-47C6-2509-347180F8262E}"/>
              </a:ext>
            </a:extLst>
          </p:cNvPr>
          <p:cNvSpPr txBox="1"/>
          <p:nvPr/>
        </p:nvSpPr>
        <p:spPr>
          <a:xfrm>
            <a:off x="700745" y="1095497"/>
            <a:ext cx="10753196" cy="3077766"/>
          </a:xfrm>
          <a:prstGeom prst="rect">
            <a:avLst/>
          </a:prstGeom>
          <a:noFill/>
        </p:spPr>
        <p:txBody>
          <a:bodyPr wrap="square" lIns="91440" tIns="45720" rIns="91440" bIns="45720" rtlCol="0" anchor="t">
            <a:spAutoFit/>
          </a:bodyPr>
          <a:lstStyle/>
          <a:p>
            <a:endParaRPr lang="en-GB" sz="1400"/>
          </a:p>
          <a:p>
            <a:r>
              <a:rPr lang="en-GB"/>
              <a:t>To conclude our project, RiskForge has proven to be a remarkable construct of simplistic design with an enormous range of functionality. It has been designed for the user to be able to easily understand their way around the program. Our team is satisfied with the project management and job role allocation skills that have been set up and the communication presented by all team members. We are pleased with the application created by our ability and all documented testing proves our program has potential to be implemented out to an industry standard. The team has proven that a problem in the service industry was identified and resolved via creating a solution and in this case the solution being RiskForge. This application was a skill building experience for all team members. We are happy to introduce a simplistic web-based application that can be used for critical automated security like tasks. </a:t>
            </a:r>
          </a:p>
        </p:txBody>
      </p:sp>
    </p:spTree>
    <p:extLst>
      <p:ext uri="{BB962C8B-B14F-4D97-AF65-F5344CB8AC3E}">
        <p14:creationId xmlns:p14="http://schemas.microsoft.com/office/powerpoint/2010/main" val="381585826"/>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302F262-F9E0-FEA9-55C0-4C4EC831DE0A}"/>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1BF549F-0537-6C33-3864-C4FE2ACEB8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C9B6B650-4009-94E3-7F85-3320E1B287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Network Technology Background">
            <a:extLst>
              <a:ext uri="{FF2B5EF4-FFF2-40B4-BE49-F238E27FC236}">
                <a16:creationId xmlns:a16="http://schemas.microsoft.com/office/drawing/2014/main" id="{A2E9D021-2461-FFC7-3F14-6987FE0C0895}"/>
              </a:ext>
            </a:extLst>
          </p:cNvPr>
          <p:cNvPicPr>
            <a:picLocks noChangeAspect="1"/>
          </p:cNvPicPr>
          <p:nvPr/>
        </p:nvPicPr>
        <p:blipFill>
          <a:blip r:embed="rId2">
            <a:alphaModFix amt="60000"/>
            <a:extLst>
              <a:ext uri="{BEBA8EAE-BF5A-486C-A8C5-ECC9F3942E4B}">
                <a14:imgProps xmlns:a14="http://schemas.microsoft.com/office/drawing/2010/main">
                  <a14:imgLayer r:embed="rId3">
                    <a14:imgEffect>
                      <a14:artisticBlur/>
                    </a14:imgEffect>
                  </a14:imgLayer>
                </a14:imgProps>
              </a:ext>
            </a:extLst>
          </a:blip>
          <a:srcRect b="3433"/>
          <a:stretch/>
        </p:blipFill>
        <p:spPr>
          <a:xfrm>
            <a:off x="0" y="1"/>
            <a:ext cx="12192000" cy="6857999"/>
          </a:xfrm>
          <a:prstGeom prst="rect">
            <a:avLst/>
          </a:prstGeom>
          <a:solidFill>
            <a:schemeClr val="bg1"/>
          </a:solidFill>
          <a:effectLst>
            <a:glow>
              <a:schemeClr val="bg1"/>
            </a:glow>
            <a:outerShdw blurRad="50800" dist="50800" dir="5400000" sx="1000" sy="1000" algn="ctr" rotWithShape="0">
              <a:srgbClr val="000000">
                <a:alpha val="41000"/>
              </a:srgbClr>
            </a:outerShdw>
          </a:effectLst>
        </p:spPr>
      </p:pic>
      <p:sp>
        <p:nvSpPr>
          <p:cNvPr id="14" name="Title 13">
            <a:extLst>
              <a:ext uri="{FF2B5EF4-FFF2-40B4-BE49-F238E27FC236}">
                <a16:creationId xmlns:a16="http://schemas.microsoft.com/office/drawing/2014/main" id="{583899A2-BEC1-EA5E-53BC-AD3C4059F3A9}"/>
              </a:ext>
            </a:extLst>
          </p:cNvPr>
          <p:cNvSpPr>
            <a:spLocks noGrp="1"/>
          </p:cNvSpPr>
          <p:nvPr>
            <p:ph type="ctrTitle"/>
          </p:nvPr>
        </p:nvSpPr>
        <p:spPr>
          <a:xfrm>
            <a:off x="2301921" y="59750"/>
            <a:ext cx="7588155" cy="697010"/>
          </a:xfrm>
        </p:spPr>
        <p:txBody>
          <a:bodyPr>
            <a:normAutofit/>
          </a:bodyPr>
          <a:lstStyle/>
          <a:p>
            <a:r>
              <a:rPr lang="en-GB" sz="3200" b="0"/>
              <a:t>Resources</a:t>
            </a:r>
          </a:p>
        </p:txBody>
      </p:sp>
      <p:sp>
        <p:nvSpPr>
          <p:cNvPr id="3" name="TextBox 2">
            <a:extLst>
              <a:ext uri="{FF2B5EF4-FFF2-40B4-BE49-F238E27FC236}">
                <a16:creationId xmlns:a16="http://schemas.microsoft.com/office/drawing/2014/main" id="{A40264C4-2390-22B0-7B68-2B7C9F285D21}"/>
              </a:ext>
            </a:extLst>
          </p:cNvPr>
          <p:cNvSpPr txBox="1"/>
          <p:nvPr/>
        </p:nvSpPr>
        <p:spPr>
          <a:xfrm>
            <a:off x="3980047" y="1089897"/>
            <a:ext cx="5022586" cy="3416320"/>
          </a:xfrm>
          <a:prstGeom prst="rect">
            <a:avLst/>
          </a:prstGeom>
          <a:noFill/>
        </p:spPr>
        <p:txBody>
          <a:bodyPr wrap="square" rtlCol="0">
            <a:spAutoFit/>
          </a:bodyPr>
          <a:lstStyle/>
          <a:p>
            <a:r>
              <a:rPr lang="en-GB" sz="2800" b="1"/>
              <a:t>Key Technologies</a:t>
            </a:r>
          </a:p>
          <a:p>
            <a:endParaRPr lang="en-GB" b="1"/>
          </a:p>
          <a:p>
            <a:r>
              <a:rPr lang="en-GB">
                <a:hlinkClick r:id="rId4"/>
              </a:rPr>
              <a:t>Greenbone/OpenVAS Documentation</a:t>
            </a:r>
            <a:endParaRPr lang="en-GB"/>
          </a:p>
          <a:p>
            <a:r>
              <a:rPr lang="en-GB" sz="1100"/>
              <a:t>https://greenbone.github.io/docs/latest/</a:t>
            </a:r>
          </a:p>
          <a:p>
            <a:endParaRPr lang="en-GB"/>
          </a:p>
          <a:p>
            <a:r>
              <a:rPr lang="en-GB">
                <a:hlinkClick r:id="rId5"/>
              </a:rPr>
              <a:t>Nmap Documentation</a:t>
            </a:r>
            <a:endParaRPr lang="en-GB"/>
          </a:p>
          <a:p>
            <a:r>
              <a:rPr lang="en-GB" sz="1100"/>
              <a:t>https://nmap.org/book/man.html</a:t>
            </a:r>
          </a:p>
          <a:p>
            <a:endParaRPr lang="en-GB"/>
          </a:p>
          <a:p>
            <a:r>
              <a:rPr lang="en-GB" err="1">
                <a:hlinkClick r:id="rId6"/>
              </a:rPr>
              <a:t>Groq</a:t>
            </a:r>
            <a:r>
              <a:rPr lang="en-GB">
                <a:hlinkClick r:id="rId6"/>
              </a:rPr>
              <a:t> API Documentation</a:t>
            </a:r>
            <a:endParaRPr lang="en-GB"/>
          </a:p>
          <a:p>
            <a:r>
              <a:rPr lang="en-GB" sz="1100"/>
              <a:t>https://console.groq.com/docs/overview</a:t>
            </a:r>
          </a:p>
          <a:p>
            <a:endParaRPr lang="en-GB"/>
          </a:p>
          <a:p>
            <a:r>
              <a:rPr lang="en-GB">
                <a:hlinkClick r:id="rId7"/>
              </a:rPr>
              <a:t>Flask Documentation</a:t>
            </a:r>
            <a:endParaRPr lang="en-GB"/>
          </a:p>
          <a:p>
            <a:r>
              <a:rPr lang="en-GB" sz="1100"/>
              <a:t>https://flask.palletsprojects.com/en/stable/</a:t>
            </a:r>
          </a:p>
        </p:txBody>
      </p:sp>
      <p:sp>
        <p:nvSpPr>
          <p:cNvPr id="5" name="TextBox 4">
            <a:extLst>
              <a:ext uri="{FF2B5EF4-FFF2-40B4-BE49-F238E27FC236}">
                <a16:creationId xmlns:a16="http://schemas.microsoft.com/office/drawing/2014/main" id="{4FD6EF6C-A2F3-B782-3FA0-D15D7D506F8D}"/>
              </a:ext>
            </a:extLst>
          </p:cNvPr>
          <p:cNvSpPr txBox="1"/>
          <p:nvPr/>
        </p:nvSpPr>
        <p:spPr>
          <a:xfrm>
            <a:off x="67926" y="1089898"/>
            <a:ext cx="3980046" cy="1800493"/>
          </a:xfrm>
          <a:prstGeom prst="rect">
            <a:avLst/>
          </a:prstGeom>
          <a:noFill/>
        </p:spPr>
        <p:txBody>
          <a:bodyPr wrap="square" rtlCol="0">
            <a:spAutoFit/>
          </a:bodyPr>
          <a:lstStyle/>
          <a:p>
            <a:r>
              <a:rPr lang="en-GB" sz="2800" b="1" dirty="0"/>
              <a:t>Project Resources</a:t>
            </a:r>
          </a:p>
          <a:p>
            <a:endParaRPr lang="en-GB" b="1" dirty="0"/>
          </a:p>
          <a:p>
            <a:r>
              <a:rPr lang="en-GB" dirty="0">
                <a:hlinkClick r:id="rId8"/>
              </a:rPr>
              <a:t>GitHub Repository</a:t>
            </a:r>
            <a:r>
              <a:rPr lang="en-GB" dirty="0"/>
              <a:t> </a:t>
            </a:r>
            <a:r>
              <a:rPr lang="en-GB" sz="1100" dirty="0"/>
              <a:t>https://github.com/leggd/RiskForge </a:t>
            </a:r>
          </a:p>
          <a:p>
            <a:endParaRPr lang="en-GB" dirty="0"/>
          </a:p>
          <a:p>
            <a:endParaRPr lang="en-GB" dirty="0"/>
          </a:p>
        </p:txBody>
      </p:sp>
      <p:sp>
        <p:nvSpPr>
          <p:cNvPr id="6" name="TextBox 5">
            <a:extLst>
              <a:ext uri="{FF2B5EF4-FFF2-40B4-BE49-F238E27FC236}">
                <a16:creationId xmlns:a16="http://schemas.microsoft.com/office/drawing/2014/main" id="{990B2AB9-97A3-DABE-959F-EDC927FD1354}"/>
              </a:ext>
            </a:extLst>
          </p:cNvPr>
          <p:cNvSpPr txBox="1"/>
          <p:nvPr/>
        </p:nvSpPr>
        <p:spPr>
          <a:xfrm>
            <a:off x="8211954" y="1089898"/>
            <a:ext cx="3980046" cy="3677930"/>
          </a:xfrm>
          <a:prstGeom prst="rect">
            <a:avLst/>
          </a:prstGeom>
          <a:noFill/>
        </p:spPr>
        <p:txBody>
          <a:bodyPr wrap="square" rtlCol="0">
            <a:spAutoFit/>
          </a:bodyPr>
          <a:lstStyle/>
          <a:p>
            <a:r>
              <a:rPr lang="en-GB" sz="2800" b="1"/>
              <a:t>Supporting Platforms</a:t>
            </a:r>
          </a:p>
          <a:p>
            <a:endParaRPr lang="en-GB" b="1"/>
          </a:p>
          <a:p>
            <a:pPr algn="just"/>
            <a:r>
              <a:rPr lang="en-GB">
                <a:hlinkClick r:id="rId8"/>
              </a:rPr>
              <a:t>GitHub (Version Control)</a:t>
            </a:r>
            <a:endParaRPr lang="en-GB"/>
          </a:p>
          <a:p>
            <a:pPr algn="just"/>
            <a:r>
              <a:rPr lang="en-GB" sz="1100"/>
              <a:t>https://github.com/</a:t>
            </a:r>
          </a:p>
          <a:p>
            <a:pPr algn="just"/>
            <a:endParaRPr lang="en-GB"/>
          </a:p>
          <a:p>
            <a:pPr algn="just"/>
            <a:r>
              <a:rPr lang="en-GB">
                <a:hlinkClick r:id="rId9"/>
              </a:rPr>
              <a:t>Trello (Project Management)</a:t>
            </a:r>
            <a:endParaRPr lang="en-GB"/>
          </a:p>
          <a:p>
            <a:pPr algn="just"/>
            <a:r>
              <a:rPr lang="en-GB" sz="1100"/>
              <a:t>https://github.com/</a:t>
            </a:r>
          </a:p>
          <a:p>
            <a:pPr algn="just"/>
            <a:endParaRPr lang="en-GB"/>
          </a:p>
          <a:p>
            <a:pPr algn="just"/>
            <a:r>
              <a:rPr lang="en-GB">
                <a:hlinkClick r:id="rId10"/>
              </a:rPr>
              <a:t>Microsoft Teams (Collaboration)</a:t>
            </a:r>
            <a:endParaRPr lang="en-GB"/>
          </a:p>
          <a:p>
            <a:pPr algn="just"/>
            <a:r>
              <a:rPr lang="en-GB" sz="1100"/>
              <a:t>https://teams.microsoft.com/v2/</a:t>
            </a:r>
          </a:p>
          <a:p>
            <a:pPr algn="just"/>
            <a:endParaRPr lang="en-GB"/>
          </a:p>
          <a:p>
            <a:pPr algn="just"/>
            <a:r>
              <a:rPr lang="en-GB">
                <a:hlinkClick r:id="rId11"/>
              </a:rPr>
              <a:t>Microsoft OneDrive</a:t>
            </a:r>
            <a:endParaRPr lang="en-GB"/>
          </a:p>
          <a:p>
            <a:pPr algn="just"/>
            <a:r>
              <a:rPr lang="en-GB" sz="1100"/>
              <a:t>https://www.microsoft.com/en-gb/microsoft-365/onedrive/online-cloud-storage</a:t>
            </a:r>
          </a:p>
        </p:txBody>
      </p:sp>
    </p:spTree>
    <p:extLst>
      <p:ext uri="{BB962C8B-B14F-4D97-AF65-F5344CB8AC3E}">
        <p14:creationId xmlns:p14="http://schemas.microsoft.com/office/powerpoint/2010/main" val="511550331"/>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43d2115b-a55e-46b6-9df7-b03388ecfc60}" enabled="0" method="" siteId="{43d2115b-a55e-46b6-9df7-b03388ecfc60}" removed="1"/>
</clbl:labelList>
</file>

<file path=docProps/app.xml><?xml version="1.0" encoding="utf-8"?>
<Properties xmlns="http://schemas.openxmlformats.org/officeDocument/2006/extended-properties" xmlns:vt="http://schemas.openxmlformats.org/officeDocument/2006/docPropsVTypes">
  <TotalTime>2</TotalTime>
  <Words>1043</Words>
  <Application>Microsoft Office PowerPoint</Application>
  <PresentationFormat>Widescreen</PresentationFormat>
  <Paragraphs>196</Paragraphs>
  <Slides>17</Slides>
  <Notes>1</Notes>
  <HiddenSlides>0</HiddenSlides>
  <MMClips>6</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Aptos</vt:lpstr>
      <vt:lpstr>Arial</vt:lpstr>
      <vt:lpstr>Neue Haas Grotesk Text Pro</vt:lpstr>
      <vt:lpstr>VanillaVTI</vt:lpstr>
      <vt:lpstr>RiskForge</vt:lpstr>
      <vt:lpstr>Problem &amp; Purpose</vt:lpstr>
      <vt:lpstr>Research Question &amp; Goal</vt:lpstr>
      <vt:lpstr>Authentication Demo</vt:lpstr>
      <vt:lpstr>Asset Management Demo</vt:lpstr>
      <vt:lpstr>Scanning Demo</vt:lpstr>
      <vt:lpstr>Ticketing &amp; Remediation Demo</vt:lpstr>
      <vt:lpstr>AI-Assisted Analysis Demo</vt:lpstr>
      <vt:lpstr>Audit Logging Demo</vt:lpstr>
      <vt:lpstr>Technology Stack</vt:lpstr>
      <vt:lpstr>System Architecture</vt:lpstr>
      <vt:lpstr>Testing and Validation</vt:lpstr>
      <vt:lpstr>Team Contributions</vt:lpstr>
      <vt:lpstr>Compliance</vt:lpstr>
      <vt:lpstr>Future Work</vt:lpstr>
      <vt:lpstr>Conclusion</vt:lpstr>
      <vt:lpstr>Resources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LEGG, DANIEL (Student)</dc:creator>
  <cp:lastModifiedBy>LEGG, DANIEL (Student)</cp:lastModifiedBy>
  <cp:revision>3</cp:revision>
  <dcterms:created xsi:type="dcterms:W3CDTF">2025-03-13T09:41:32Z</dcterms:created>
  <dcterms:modified xsi:type="dcterms:W3CDTF">2026-05-10T07:54:56Z</dcterms:modified>
</cp:coreProperties>
</file>